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세션을 한 장으로 먼저 보여드린다. 어려운 단어는 세 개만 알면 된다. Azure는 회사가 빌려 쓰는 클라우드 전산실이고, Bicep은 그 전산실이 어떻게 생겨야 하는지 적은 설계도이며, Drift는 설계도와 실제가 달라진 상태다. 이야기는 네 장면이고, 각각 데모 단계 0부터 3에 해당한다. 첫째(단계 0), 누군가 포털에서 설정을 몰래 바꾸고 Teams로 알림이 온다. 둘째(단계 1, /drift-check), Copilot이 누가 언제 무엇을 바꿨는지 찾아 설계도와 비교하고 일감으로 등록한다. 셋째(단계 2), 사람이 그 결과를 검토해 변경마다 승인할지 반려할지 판정한다. 승인한 변경은 Copilot이 설계도와 문서에 반영해 변경 제안을 올리고, 반려한 변경에는 원복 권고를 남긴다. 넷째(단계 3), Copilot이 결과를 공유한다. /weekly-report로 주간 보고서를 엔지니어 개인 지식창고인 Obsidian에 쓰고, /confluence-publish로 같은 내용을 팀과 고객이 보는 Confluence에 게시한다. 이 과정에서 사람은 판단과 승인만 한다. 변경이 맞는지 판정하고, 일감을 기록할 때, 설계도 변경을 제안할 때, 외부에 공유할 때 승인한다. 그리고 이 모든 일은 코드가 아니라 한국어로 쓴 업무 매뉴얼 네 장(팀 규칙, 점검 절차, 주간 보고 절차, 게시 절차)으로 이루어지며, 마지막 단계 4에서 이 매뉴얼을 공개한다. 그래서 오늘의 메시지는 하나다. GitHub Copilot은 여러분의 업무 절차를 실행하는 동료다.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청중에게 먼저 묻는다. 포털에서 누가 무엇을 바꿨는지 확인하는 데 얼마나 걸리는지, 고객에게 제출한 산출물이 실제 구성과 같다고 장담할 수 있는지, 주간 보고서에 복사와 붙여넣기를 몇 번 하는지. 손을 들게 하거나 고개를 끄덕이는지 본다. 왼쪽은 우리가 늘 겪는 불편이고, 오른쪽은 오늘 데모에서 Copilot이 대신하는 일이다. 그러면 기존 자동화 스크립트나 일반 AI 챗봇과 무엇이 다른가. 네 가지다. 첫째, 판단한다. RDP 포트를 연 건은 위험하고 태그 변경은 경미하다는 1차 판단을 한다. 정해진 규칙만 따르는 스크립트로는 어려운 일이다. 둘째, 연결한다. Azure, Azure DevOps, Confluence를 대화 하나로 오간다. 셋째, 내가 고친다. 업무 방식이 바뀌면 개발자에게 요청하지 않고 한국어 문서 한 장을 고친다. 넷째, 통제된다. 중요한 순간에는 사람이 승인하고, 결과는 일감과 문서로 남는다. 한 문장으로 정리한다. 스크립트는 정해진 일만 한다. Copilot은 판단이 필요한 일까지, 내가 쓴 절차서대로 한다. 여러 화면은 포털, 설계도, DevOps, 문서, Confluence를 오가는 상황을 말한다. 소요 시간 수치는 리허설에서 잰 값만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요즘은 AI를 도구가 아니라 동료로 대하는 시대다. 오늘 데모를 동료와의 대화로 바꿔 보면 이렇다. 알림 시스템이 Teams로 변경을 알리면, 나는 AI 동료에게 확인을 맡긴다. 동료는 세 건을 찾아 위험한 것을 가려내고 일감으로 등록하겠다고 한다. 이때 내가 승인한다. 이어서 나는 판단을 내린다. 서브넷은 승인된 변경이니 반영하고, RDP는 원복 권고만 하라고. 동료는 설계도와 산출물을 고치고 변경 제안을 올린다. 다시 내가 승인한다. 마지막으로 보고와 공유를 맡기면, 동료는 Obsidian과 Confluence에 올리고, 외부로 나가기 전에 내가 승인한다. 역할은 분명하다. 나는 맡기고, 판단하고, 승인하고, 책임진다. AI 동료는 찾고, 정리하고, 고치고, 올리고, 기록을 남긴다. 그리고 동료는 대화가 끝나면 기억하지 못하기 때문에, 업무 매뉴얼이 신입 사원의 온보딩 문서 역할을 한다. 규칙 한 장과 절차 세 장이다. 신입 동료에게 일을 맡기듯, 매뉴얼을 주고, 맡기고, 확인한다.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업무 시스템용 멀티탭이라고 생각하면 된다. 꽂으면 Copilot이 그 시스템을 쓸 수 있다. 왼쪽은 오늘 데모에서 꽂아 둔 것이다. Azure는 CLI로 변경 이력과 설계도를 대조하고, Azure DevOps MCP로 일감과 변경 제안을, Atlassian MCP로 Confluence 게시를, Microsoft Learn MCP로 공식 문서 근거를 찾는다. 오른쪽은 꽂기만 하면 맡길 수 있는 것들이다. Azure MCP Server를 꽂으면 보안과 규정 준수 점검 보고서를 만들 수 있고, 오늘 쓴 Atlassian MCP는 Jira도 함께 다루므로 고객 요청 티켓 처리로 넓힐 수 있다. GitHub MCP로 레포와 이슈를, 사내 시스템은 MCP 서버를 만들어 연결할 수 있다. 공식은 간단하다. 연결 하나에 절차서 한 장을 더하면 맡길 업무가 하나 는다. 실제로 단계 2가 끝난 직후, 이미 꽂혀 있는 Microsoft Learn MCP로 방금 추가한 서브넷이 Azure 권장사항에 맞는지 공식 문서 근거를 찾아 보여준다. 조회만 하므로 승인 창은 뜨지 않는다. 연결된 도구는 내 계정 권한 안에서만 동작한다.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 에이전트를 만들자는 이야기가 많다. 그런데 토큰 비용과 보안이 걱정이라는 목소리도 함께 커지고 있다. 오늘 보여드릴 방식도 에이전트다. Copilot이 도구를 고르고 결과를 보며 다음 단계를 정한다. 다른 점은 자율의 범위다. 새로 짓는 자율형 에이전트는 별도 플랫폼에서 개발하고, 상시 실행되며, 전용 계정과 비밀값이 필요하고, 안전장치와 운영을 따로 챙겨야 한다. 오늘 방식은 이미 쓰는 VS Code에 업무 문서 몇 장을 더할 뿐이다. 오른쪽 끝 열이 그 기술이다. 팀 규칙은 Instructions, 절차는 Agent Skills로 적고, Agent 모드에서 슬래시 명령으로 부른다. 업무 시스템은 Azure DevOps MCP, Atlassian MCP 같은 MCP 서버와 Azure CLI로 연결한다. 모두 내 계정으로 로그인해 내 권한 그대로 동작한다. 그리고 도구 승인과 자동 승인 규칙으로 사람이 승인할 지점을 정한다. 필요한 것은 GitHub Copilot 라이선스뿐이다. 요청할 때만 절차서대로 움직이고, 내 계정과 기존 권한 안에서만 일하며, 사람이 판단하고 중요한 순간에 승인한다. 그래서 얻는 것은 세 가지다. 비용 면에서는 구축과 운영비가 들지 않고, 2026년 6월부터 Copilot이 사용 토큰 기준으로 과금되기 때문에 원본 데이터 대신 요약만 넘기도록 설계해 토큰을 아낀다. 다만 몇 퍼센트 싸다는 수치는 리허설에서 잰 값이 있을 때만 말한다. 보안 면에서는 새 계정이나 비밀값을 만들지 않는다. 자동 승인 규칙은 편의 기능일 뿐 보안 경계가 아니므로, 금지 규칙은 업무 문서에도 함께 적어 둔다. 확장 면에서는 새 업무를 맡기고 싶을 때 개발을 의뢰하지 않고 절차서, 즉 Skill 문서 한 장을 쓴다. 오늘 데모의 점검, 주간 보고, Confluence 게시도 각각 문서 한 장이고, 고객 월간 보고를 맡기고 싶으면 그 절차를 한 장 더 쓰면 된다. 그래서 오늘의 인사이트는 이것이다. AI 시대의 경쟁력은 에이전트를 만드는 능력보다, 일을 맡길 수 있게 절차를 정리하는 능력이다.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맡겨 본다. 데모는 다섯 단계, 약 32분이다. 단계 0에서는 제가 포털에서 설정 세 건을 직접 바꾸고, Teams로 KST 시각이 찍힌 알림이 오는 것을 본다. 단계 1에서는 /drift-check 한 줄로 Copilot이 스스로 조사하고 위험을 분류한다. 일감을 등록하기 전에 한 번 승인한다. 단계 2에서는 제가 결과를 검토해 승인과 반려를 판정하고, Copilot이 설계도를 고쳐 변경 제안을 올린다. 이어서 이미 연결된 Microsoft Learn MCP로 공식 문서 근거도 찾아본다. 단계 3에서는 주간 보고서를 Obsidian에 쓰고, 운영 문서를 Confluence에 게시한다. 외부로 나가기 전에 승인한다. 마지막 단계 4에서는 이 모든 일이 코드가 아니라 한국어 업무 매뉴얼 네 장에서 나왔다는 것을 열어 보여드리고, 대화에서 바로 새 Skill을 만들어 본다. 실습 무대는 리소스 그룹 하나와 Azure DevOps 프로젝트, Confluence 스페이스, Obsidian Vault다. 지켜보실 것은 하나다. Copilot이 일하는 동안 사람은 언제 개입하는가. 화면의 주황색이 사람이 개입하는 순간이다.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말로는 충분하다. 동료에게 직접 일을 맡겨 보자. 지금부터 VS Code, Azure 포털, Teams 화면으로 전환한다. 단계 0, 포털에서 설정을 바꾸는 것부터 시작한다.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데모를 정리한다. 데모 동안 AI 동료가 만든 결과는 네 가지다. 변경을 분석해 위험도를 나누고 일감으로 등록했고, 설계도와 구성도, 네트워크 문서, 변경 이력을 고쳐 변경 제안을 올렸고, 주간 보고서를 Obsidian에 썼고, 팀과 고객이 보는 Confluence 문서를 게시했다. 그동안 제가 한 일은 판단 한 번과 승인 세 번이다. 이 변경은 승인, 저 변경은 반려라고 판단했고, 일감 등록, 변경 제안, 외부 공유 때 승인했다. 그리고 이 모든 일의 출발점은 코드가 아니라 한국어로 쓴 업무 문서 네 장, 팀 규칙 한 장과 절차 세 장이었다. 실제 소요 시간은 리허설과 오늘 진행에서 잰 값으로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인사이트를 여러분의 업무로 옮겨 보는 시간이다. 먼저 질문을 드린다. 매주 반복하는 일 하나, 무엇인가요? 세 가지를 떠올리면 쉽다. 어디서 정보를 모으는지, 어떤 순서로 처리하는지, 그리고 어디서 내가 확인해야 하는지. 두세 분께 손을 들어 직접 들어 본다. 답을 들으면 그대로 소리 내어 다시 말해 화면의 빈칸을 채우듯 정리한다. 예를 들어 "매주 월요일 주간 보고를 씁니다"라는 답이면, 모으는 곳은 메일과 Teams, 순서는 한 주 내용 모으기에서 보고 양식 채우기, 확인은 보내기 전이라고 짚는다. 답이 나오지 않으면 바로 다음 장의 예시로 넘어가 "이 중에 해당되는 것이 있나요?"라고 묻는다.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들은 답과 비교해 본다. 표의 열은 앞 장에서 떠올린 세 가지, 어디서 모으나, 어떤 순서로 하나, 어디서 확인하나와 같다. 청중의 답과 가장 비슷한 행을 가리키며 "방금 말씀하신 일은 이 줄과 같은 모양입니다"라고 연결한다. 파워 플랫폼을 쓰시는 분들께 익숙한 말로 정리하면, Power Automate가 정해진 흐름을 자동화한다면 Copilot은 판단이 필요한 흐름을 맡는다. 둘은 경쟁이 아니라 짝이다. 오늘 데모는 Azure였지만 패턴은 어디에나 같다. 표의 업무와 연결 대상은 예시이며, 실제로 연결할 수 있는 서비스는 조직 환경과 제공되는 MCP 서버에 따라 다르다. 내일 할 일은 세 가지다. 반복 업무 하나를 고르고, 그 절차를 한 장으로 적고, 조회만 하는 연결부터 시작한다.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질문을 받는다. 비용과 보안, 내 업무에 어떻게 적용할지, 준비와 설정 무엇이든 좋다. 질문이 바로 나오지 않으면 앞 장의 질문으로 돌아가, 매주 반복하는 일 하나를 한 분께 듣고 그 업무에 맞는 연결과 절차서를 함께 짚어 본다. 자주 나올 질문의 답은 대본(DEMO-GUIDE.md)의 예상 질문 표를 참고한다.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898922"/>
            <a:ext cx="10566577" cy="438106"/>
          </a:xfrm>
          <a:prstGeom prst="rect">
            <a:avLst/>
          </a:prstGeom>
          <a:noFill/>
          <a:ln/>
        </p:spPr>
        <p:txBody>
          <a:bodyPr wrap="square" lIns="0" tIns="0" rIns="0" bIns="0" rtlCol="0" anchor="t"/>
          <a:lstStyle>
            <a:lvl1pPr algn="l" indent="0" marL="0">
              <a:lnSpc>
                <a:spcPct val="115000"/>
              </a:lnSpc>
              <a:buNone/>
              <a:defRPr lang="en-US" sz="3000" dirty="0">
                <a:solidFill>
                  <a:srgbClr val="12202F"/>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12" y="1641828"/>
            <a:ext cx="10566488" cy="4403372"/>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898922"/>
            <a:ext cx="10566577" cy="438106"/>
          </a:xfrm>
          <a:prstGeom prst="rect">
            <a:avLst/>
          </a:prstGeom>
          <a:noFill/>
          <a:ln/>
        </p:spPr>
        <p:txBody>
          <a:bodyPr wrap="square" lIns="0" tIns="0" rIns="0" bIns="0" rtlCol="0" anchor="t"/>
          <a:lstStyle>
            <a:lvl1pPr algn="l" indent="0" marL="0">
              <a:lnSpc>
                <a:spcPct val="115000"/>
              </a:lnSpc>
              <a:buNone/>
              <a:defRPr lang="en-US" sz="3000" dirty="0">
                <a:solidFill>
                  <a:srgbClr val="12202F"/>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12" y="1641828"/>
            <a:ext cx="10566488" cy="4403372"/>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4"/>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오늘 세션 한눈에</a:t>
            </a:r>
            <a:endParaRPr lang="en-US" sz="1200" dirty="0"/>
          </a:p>
        </p:txBody>
      </p:sp>
      <p:sp>
        <p:nvSpPr>
          <p:cNvPr id="3" name="Text 1"/>
          <p:cNvSpPr/>
          <p:nvPr>
            <p:ph type="title"/>
          </p:nvPr>
        </p:nvSpPr>
        <p:spPr>
          <a:xfrm>
            <a:off x="812712" y="898922"/>
            <a:ext cx="10883574" cy="49261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2F"/>
                </a:solidFill>
                <a:latin typeface="Arial" pitchFamily="34" charset="0"/>
                <a:ea typeface="Arial" pitchFamily="34" charset="-122"/>
                <a:cs typeface="Arial" pitchFamily="34" charset="-120"/>
              </a:rPr>
              <a:t>몰래 바뀐 설정, AI 동료가 찾아서 정리한다</a:t>
            </a:r>
            <a:endParaRPr lang="en-US" sz="3200" dirty="0"/>
          </a:p>
        </p:txBody>
      </p:sp>
      <p:sp>
        <p:nvSpPr>
          <p:cNvPr id="4" name="Shape 2"/>
          <p:cNvSpPr/>
          <p:nvPr/>
        </p:nvSpPr>
        <p:spPr>
          <a:xfrm>
            <a:off x="815887" y="1470841"/>
            <a:ext cx="3448116" cy="637249"/>
          </a:xfrm>
          <a:prstGeom prst="roundRect">
            <a:avLst>
              <a:gd name="adj" fmla="val 11459"/>
            </a:avLst>
          </a:prstGeom>
          <a:solidFill>
            <a:srgbClr val="FCFBF8"/>
          </a:solidFill>
          <a:ln w="6350">
            <a:solidFill>
              <a:srgbClr val="DCD8CC"/>
            </a:solidFill>
            <a:prstDash val="solid"/>
          </a:ln>
        </p:spPr>
      </p:sp>
      <p:sp>
        <p:nvSpPr>
          <p:cNvPr id="5" name="Text 3"/>
          <p:cNvSpPr/>
          <p:nvPr/>
        </p:nvSpPr>
        <p:spPr>
          <a:xfrm>
            <a:off x="972123" y="1563577"/>
            <a:ext cx="3229713"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Azure</a:t>
            </a:r>
            <a:endParaRPr lang="en-US" sz="1200" dirty="0"/>
          </a:p>
        </p:txBody>
      </p:sp>
      <p:sp>
        <p:nvSpPr>
          <p:cNvPr id="6" name="Text 4"/>
          <p:cNvSpPr/>
          <p:nvPr/>
        </p:nvSpPr>
        <p:spPr>
          <a:xfrm>
            <a:off x="972123" y="1802143"/>
            <a:ext cx="3229713"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회사가 빌려 쓰는 클라우드 전산실</a:t>
            </a:r>
            <a:endParaRPr lang="en-US" sz="1200" dirty="0"/>
          </a:p>
        </p:txBody>
      </p:sp>
      <p:sp>
        <p:nvSpPr>
          <p:cNvPr id="7" name="Shape 5"/>
          <p:cNvSpPr/>
          <p:nvPr/>
        </p:nvSpPr>
        <p:spPr>
          <a:xfrm>
            <a:off x="4371887" y="1470841"/>
            <a:ext cx="3448227" cy="637249"/>
          </a:xfrm>
          <a:prstGeom prst="roundRect">
            <a:avLst>
              <a:gd name="adj" fmla="val 11459"/>
            </a:avLst>
          </a:prstGeom>
          <a:solidFill>
            <a:srgbClr val="FCFBF8"/>
          </a:solidFill>
          <a:ln w="6350">
            <a:solidFill>
              <a:srgbClr val="DCD8CC"/>
            </a:solidFill>
            <a:prstDash val="solid"/>
          </a:ln>
        </p:spPr>
      </p:sp>
      <p:sp>
        <p:nvSpPr>
          <p:cNvPr id="8" name="Text 6"/>
          <p:cNvSpPr/>
          <p:nvPr/>
        </p:nvSpPr>
        <p:spPr>
          <a:xfrm>
            <a:off x="4528124" y="1563577"/>
            <a:ext cx="3229826"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Bicep (설계도)</a:t>
            </a:r>
            <a:endParaRPr lang="en-US" sz="1200" dirty="0"/>
          </a:p>
        </p:txBody>
      </p:sp>
      <p:sp>
        <p:nvSpPr>
          <p:cNvPr id="9" name="Text 7"/>
          <p:cNvSpPr/>
          <p:nvPr/>
        </p:nvSpPr>
        <p:spPr>
          <a:xfrm>
            <a:off x="4528124" y="1802143"/>
            <a:ext cx="3229826"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전산실이 어떻게 생겨야 하는지 적은 문서</a:t>
            </a:r>
            <a:endParaRPr lang="en-US" sz="1200" dirty="0"/>
          </a:p>
        </p:txBody>
      </p:sp>
      <p:sp>
        <p:nvSpPr>
          <p:cNvPr id="10" name="Shape 8"/>
          <p:cNvSpPr/>
          <p:nvPr/>
        </p:nvSpPr>
        <p:spPr>
          <a:xfrm>
            <a:off x="7927997" y="1470841"/>
            <a:ext cx="3448116" cy="637249"/>
          </a:xfrm>
          <a:prstGeom prst="roundRect">
            <a:avLst>
              <a:gd name="adj" fmla="val 11459"/>
            </a:avLst>
          </a:prstGeom>
          <a:solidFill>
            <a:srgbClr val="FCFBF8"/>
          </a:solidFill>
          <a:ln w="6350">
            <a:solidFill>
              <a:srgbClr val="DCD8CC"/>
            </a:solidFill>
            <a:prstDash val="solid"/>
          </a:ln>
        </p:spPr>
      </p:sp>
      <p:sp>
        <p:nvSpPr>
          <p:cNvPr id="11" name="Text 9"/>
          <p:cNvSpPr/>
          <p:nvPr/>
        </p:nvSpPr>
        <p:spPr>
          <a:xfrm>
            <a:off x="8084234" y="1563577"/>
            <a:ext cx="3229713"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Arial" pitchFamily="34" charset="0"/>
                <a:ea typeface="Arial" pitchFamily="34" charset="-122"/>
                <a:cs typeface="Arial" pitchFamily="34" charset="-120"/>
              </a:rPr>
              <a:t>Drift (어긋남)</a:t>
            </a:r>
            <a:endParaRPr lang="en-US" sz="1200" dirty="0"/>
          </a:p>
        </p:txBody>
      </p:sp>
      <p:sp>
        <p:nvSpPr>
          <p:cNvPr id="12" name="Text 10"/>
          <p:cNvSpPr/>
          <p:nvPr/>
        </p:nvSpPr>
        <p:spPr>
          <a:xfrm>
            <a:off x="8084234" y="1802143"/>
            <a:ext cx="3229713"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설계도와 실제 전산실이 달라진 상태</a:t>
            </a:r>
            <a:endParaRPr lang="en-US" sz="1200" dirty="0"/>
          </a:p>
        </p:txBody>
      </p:sp>
      <p:sp>
        <p:nvSpPr>
          <p:cNvPr id="13" name="Shape 11"/>
          <p:cNvSpPr/>
          <p:nvPr/>
        </p:nvSpPr>
        <p:spPr>
          <a:xfrm>
            <a:off x="819062" y="2411854"/>
            <a:ext cx="2248054" cy="2114219"/>
          </a:xfrm>
          <a:prstGeom prst="roundRect">
            <a:avLst>
              <a:gd name="adj" fmla="val 4505"/>
            </a:avLst>
          </a:prstGeom>
          <a:solidFill>
            <a:srgbClr val="FFF4E8"/>
          </a:solidFill>
          <a:ln w="12700">
            <a:solidFill>
              <a:srgbClr val="F2A65A"/>
            </a:solidFill>
            <a:prstDash val="solid"/>
          </a:ln>
        </p:spPr>
      </p:sp>
      <p:sp>
        <p:nvSpPr>
          <p:cNvPr id="14" name="Text 12"/>
          <p:cNvSpPr/>
          <p:nvPr/>
        </p:nvSpPr>
        <p:spPr>
          <a:xfrm>
            <a:off x="1329421" y="2539559"/>
            <a:ext cx="1227226" cy="263922"/>
          </a:xfrm>
          <a:custGeom>
            <a:avLst/>
            <a:gdLst/>
            <a:ahLst/>
            <a:cxnLst/>
            <a:rect l="l" t="t" r="r" b="b"/>
            <a:pathLst>
              <a:path w="1227226" h="263922">
                <a:moveTo>
                  <a:pt x="131961" y="0"/>
                </a:moveTo>
                <a:lnTo>
                  <a:pt x="1095265" y="0"/>
                </a:lnTo>
                <a:arcTo hR="131961" wR="131961" stAng="16200000" swAng="5400000"/>
                <a:lnTo>
                  <a:pt x="1227226" y="131961"/>
                </a:lnTo>
                <a:arcTo hR="131961" wR="131961" stAng="0" swAng="5400000"/>
                <a:lnTo>
                  <a:pt x="131961" y="263922"/>
                </a:lnTo>
                <a:arcTo hR="131961" wR="131961" stAng="5400000" swAng="5400000"/>
                <a:lnTo>
                  <a:pt x="0" y="131961"/>
                </a:lnTo>
                <a:arcTo hR="131961" wR="131961"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단계 0 · 누군가</a:t>
            </a:r>
            <a:endParaRPr lang="en-US" sz="1200" dirty="0"/>
          </a:p>
        </p:txBody>
      </p:sp>
      <p:pic>
        <p:nvPicPr>
          <p:cNvPr id="15" name="Image 0" descr="Warning">    </p:cNvPr>
          <p:cNvPicPr>
            <a:picLocks noChangeAspect="1"/>
          </p:cNvPicPr>
          <p:nvPr/>
        </p:nvPicPr>
        <p:blipFill>
          <a:blip r:embed="rId1"/>
          <a:srcRect l="0" r="0" t="0" b="0"/>
          <a:stretch/>
        </p:blipFill>
        <p:spPr>
          <a:xfrm>
            <a:off x="1765322" y="2866981"/>
            <a:ext cx="355534" cy="355534"/>
          </a:xfrm>
          <a:prstGeom prst="rect">
            <a:avLst/>
          </a:prstGeom>
        </p:spPr>
      </p:pic>
      <p:sp>
        <p:nvSpPr>
          <p:cNvPr id="16" name="Text 13"/>
          <p:cNvSpPr/>
          <p:nvPr/>
        </p:nvSpPr>
        <p:spPr>
          <a:xfrm>
            <a:off x="1066866" y="3286015"/>
            <a:ext cx="1752335" cy="299685"/>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2202F"/>
                </a:solidFill>
                <a:latin typeface="Arial" pitchFamily="34" charset="0"/>
                <a:ea typeface="Arial" pitchFamily="34" charset="-122"/>
                <a:cs typeface="Arial" pitchFamily="34" charset="-120"/>
              </a:rPr>
              <a:t>1. 몰래 바뀐다</a:t>
            </a:r>
            <a:endParaRPr lang="en-US" sz="1800" dirty="0"/>
          </a:p>
        </p:txBody>
      </p:sp>
      <p:sp>
        <p:nvSpPr>
          <p:cNvPr id="17" name="Text 14"/>
          <p:cNvSpPr/>
          <p:nvPr/>
        </p:nvSpPr>
        <p:spPr>
          <a:xfrm>
            <a:off x="1431186" y="3623800"/>
            <a:ext cx="1023805" cy="23861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Courier New" pitchFamily="49" charset="0"/>
                <a:ea typeface="Courier New" pitchFamily="49" charset="-122"/>
                <a:cs typeface="Courier New" pitchFamily="49" charset="-120"/>
              </a:rPr>
              <a:t>Azure 포털</a:t>
            </a:r>
            <a:endParaRPr lang="en-US" sz="1200" dirty="0"/>
          </a:p>
        </p:txBody>
      </p:sp>
      <p:sp>
        <p:nvSpPr>
          <p:cNvPr id="18" name="Text 15"/>
          <p:cNvSpPr/>
          <p:nvPr/>
        </p:nvSpPr>
        <p:spPr>
          <a:xfrm>
            <a:off x="1221229" y="3900510"/>
            <a:ext cx="1443611" cy="523258"/>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Arial" pitchFamily="34" charset="0"/>
                <a:ea typeface="Arial" pitchFamily="34" charset="-122"/>
                <a:cs typeface="Arial" pitchFamily="34" charset="-120"/>
              </a:rPr>
              <a:t>포털에서 설정을</a:t>
            </a:r>
            <a:endParaRPr lang="en-US" sz="1400" dirty="0"/>
          </a:p>
          <a:p>
            <a:pPr algn="ctr" indent="0" marL="0">
              <a:lnSpc>
                <a:spcPts val="1960"/>
              </a:lnSpc>
              <a:buNone/>
            </a:pPr>
            <a:r>
              <a:rPr lang="en-US" sz="1400" dirty="0">
                <a:solidFill>
                  <a:srgbClr val="4A5568"/>
                </a:solidFill>
                <a:latin typeface="Arial" pitchFamily="34" charset="0"/>
                <a:ea typeface="Arial" pitchFamily="34" charset="-122"/>
                <a:cs typeface="Arial" pitchFamily="34" charset="-120"/>
              </a:rPr>
              <a:t>직접 바꿈 → 알림</a:t>
            </a:r>
            <a:endParaRPr lang="en-US" sz="1400" dirty="0"/>
          </a:p>
        </p:txBody>
      </p:sp>
      <p:pic>
        <p:nvPicPr>
          <p:cNvPr id="19" name="Image 1" descr="arrow-right">    </p:cNvPr>
          <p:cNvPicPr>
            <a:picLocks noChangeAspect="1"/>
          </p:cNvPicPr>
          <p:nvPr/>
        </p:nvPicPr>
        <p:blipFill>
          <a:blip r:embed="rId2"/>
          <a:srcRect l="0" r="0" t="0" b="0"/>
          <a:stretch/>
        </p:blipFill>
        <p:spPr>
          <a:xfrm>
            <a:off x="3175000" y="3392730"/>
            <a:ext cx="304712" cy="152356"/>
          </a:xfrm>
          <a:prstGeom prst="rect">
            <a:avLst/>
          </a:prstGeom>
        </p:spPr>
      </p:pic>
      <p:sp>
        <p:nvSpPr>
          <p:cNvPr id="20" name="Shape 16"/>
          <p:cNvSpPr/>
          <p:nvPr/>
        </p:nvSpPr>
        <p:spPr>
          <a:xfrm>
            <a:off x="3587596" y="2411854"/>
            <a:ext cx="2248165" cy="2114219"/>
          </a:xfrm>
          <a:prstGeom prst="roundRect">
            <a:avLst>
              <a:gd name="adj" fmla="val 4505"/>
            </a:avLst>
          </a:prstGeom>
          <a:solidFill>
            <a:srgbClr val="FCFBF8"/>
          </a:solidFill>
          <a:ln w="12700">
            <a:solidFill>
              <a:srgbClr val="2563C9"/>
            </a:solidFill>
            <a:prstDash val="solid"/>
          </a:ln>
        </p:spPr>
      </p:sp>
      <p:sp>
        <p:nvSpPr>
          <p:cNvPr id="21" name="Text 17"/>
          <p:cNvSpPr/>
          <p:nvPr/>
        </p:nvSpPr>
        <p:spPr>
          <a:xfrm>
            <a:off x="4064331" y="2539559"/>
            <a:ext cx="1294695" cy="263922"/>
          </a:xfrm>
          <a:custGeom>
            <a:avLst/>
            <a:gdLst/>
            <a:ahLst/>
            <a:cxnLst/>
            <a:rect l="l" t="t" r="r" b="b"/>
            <a:pathLst>
              <a:path w="1294695" h="263922">
                <a:moveTo>
                  <a:pt x="131961" y="0"/>
                </a:moveTo>
                <a:lnTo>
                  <a:pt x="1162734" y="0"/>
                </a:lnTo>
                <a:arcTo hR="131961" wR="131961" stAng="16200000" swAng="5400000"/>
                <a:lnTo>
                  <a:pt x="1294695" y="131961"/>
                </a:lnTo>
                <a:arcTo hR="131961" wR="131961" stAng="0" swAng="5400000"/>
                <a:lnTo>
                  <a:pt x="131961" y="263922"/>
                </a:lnTo>
                <a:arcTo hR="131961" wR="131961" stAng="5400000" swAng="5400000"/>
                <a:lnTo>
                  <a:pt x="0" y="131961"/>
                </a:lnTo>
                <a:arcTo hR="131961" wR="131961"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단계 1 · Copilot</a:t>
            </a:r>
            <a:endParaRPr lang="en-US" sz="1200" dirty="0"/>
          </a:p>
        </p:txBody>
      </p:sp>
      <p:pic>
        <p:nvPicPr>
          <p:cNvPr id="22" name="Image 2" descr="Search">    </p:cNvPr>
          <p:cNvPicPr>
            <a:picLocks noChangeAspect="1"/>
          </p:cNvPicPr>
          <p:nvPr/>
        </p:nvPicPr>
        <p:blipFill>
          <a:blip r:embed="rId3"/>
          <a:srcRect l="0" r="0" t="0" b="0"/>
          <a:stretch/>
        </p:blipFill>
        <p:spPr>
          <a:xfrm>
            <a:off x="4533856" y="2866981"/>
            <a:ext cx="355534" cy="355534"/>
          </a:xfrm>
          <a:prstGeom prst="rect">
            <a:avLst/>
          </a:prstGeom>
        </p:spPr>
      </p:pic>
      <p:sp>
        <p:nvSpPr>
          <p:cNvPr id="23" name="Text 18"/>
          <p:cNvSpPr/>
          <p:nvPr/>
        </p:nvSpPr>
        <p:spPr>
          <a:xfrm>
            <a:off x="4010676" y="3286015"/>
            <a:ext cx="1401895" cy="299685"/>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2202F"/>
                </a:solidFill>
                <a:latin typeface="Arial" pitchFamily="34" charset="0"/>
                <a:ea typeface="Arial" pitchFamily="34" charset="-122"/>
                <a:cs typeface="Arial" pitchFamily="34" charset="-120"/>
              </a:rPr>
              <a:t>2. 찾아낸다</a:t>
            </a:r>
            <a:endParaRPr lang="en-US" sz="1800" dirty="0"/>
          </a:p>
        </p:txBody>
      </p:sp>
      <p:sp>
        <p:nvSpPr>
          <p:cNvPr id="24" name="Text 19"/>
          <p:cNvSpPr/>
          <p:nvPr/>
        </p:nvSpPr>
        <p:spPr>
          <a:xfrm>
            <a:off x="4053406" y="3623800"/>
            <a:ext cx="1316434" cy="23861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563C9"/>
                </a:solidFill>
                <a:latin typeface="Courier New" pitchFamily="49" charset="0"/>
                <a:ea typeface="Courier New" pitchFamily="49" charset="-122"/>
                <a:cs typeface="Courier New" pitchFamily="49" charset="-120"/>
              </a:rPr>
              <a:t>/drift-check</a:t>
            </a:r>
            <a:endParaRPr lang="en-US" sz="1200" dirty="0"/>
          </a:p>
        </p:txBody>
      </p:sp>
      <p:sp>
        <p:nvSpPr>
          <p:cNvPr id="25" name="Text 20"/>
          <p:cNvSpPr/>
          <p:nvPr/>
        </p:nvSpPr>
        <p:spPr>
          <a:xfrm>
            <a:off x="3989873" y="3900510"/>
            <a:ext cx="1443611" cy="523258"/>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Arial" pitchFamily="34" charset="0"/>
                <a:ea typeface="Arial" pitchFamily="34" charset="-122"/>
                <a:cs typeface="Arial" pitchFamily="34" charset="-120"/>
              </a:rPr>
              <a:t>누가·언제·무엇을</a:t>
            </a:r>
            <a:endParaRPr lang="en-US" sz="1400" dirty="0"/>
          </a:p>
          <a:p>
            <a:pPr algn="ctr" indent="0" marL="0">
              <a:lnSpc>
                <a:spcPts val="1960"/>
              </a:lnSpc>
              <a:buNone/>
            </a:pPr>
            <a:r>
              <a:rPr lang="en-US" sz="1400" dirty="0">
                <a:solidFill>
                  <a:srgbClr val="4A5568"/>
                </a:solidFill>
                <a:latin typeface="Arial" pitchFamily="34" charset="0"/>
                <a:ea typeface="Arial" pitchFamily="34" charset="-122"/>
                <a:cs typeface="Arial" pitchFamily="34" charset="-120"/>
              </a:rPr>
              <a:t>비교 → 일감 등록</a:t>
            </a:r>
            <a:endParaRPr lang="en-US" sz="1400" dirty="0"/>
          </a:p>
        </p:txBody>
      </p:sp>
      <p:pic>
        <p:nvPicPr>
          <p:cNvPr id="26" name="Image 3" descr="arrow-right">    </p:cNvPr>
          <p:cNvPicPr>
            <a:picLocks noChangeAspect="1"/>
          </p:cNvPicPr>
          <p:nvPr/>
        </p:nvPicPr>
        <p:blipFill>
          <a:blip r:embed="rId4"/>
          <a:srcRect l="0" r="0" t="0" b="0"/>
          <a:stretch/>
        </p:blipFill>
        <p:spPr>
          <a:xfrm>
            <a:off x="5943645" y="3392730"/>
            <a:ext cx="304712" cy="152356"/>
          </a:xfrm>
          <a:prstGeom prst="rect">
            <a:avLst/>
          </a:prstGeom>
        </p:spPr>
      </p:pic>
      <p:sp>
        <p:nvSpPr>
          <p:cNvPr id="27" name="Shape 21"/>
          <p:cNvSpPr/>
          <p:nvPr/>
        </p:nvSpPr>
        <p:spPr>
          <a:xfrm>
            <a:off x="6356240" y="2429603"/>
            <a:ext cx="2248054" cy="2078721"/>
          </a:xfrm>
          <a:prstGeom prst="roundRect">
            <a:avLst>
              <a:gd name="adj" fmla="val 4582"/>
            </a:avLst>
          </a:prstGeom>
          <a:solidFill>
            <a:srgbClr val="FCFBF8"/>
          </a:solidFill>
          <a:ln w="12700">
            <a:solidFill>
              <a:srgbClr val="2563C9"/>
            </a:solidFill>
            <a:prstDash val="solid"/>
          </a:ln>
        </p:spPr>
      </p:sp>
      <p:sp>
        <p:nvSpPr>
          <p:cNvPr id="28" name="Text 22"/>
          <p:cNvSpPr/>
          <p:nvPr/>
        </p:nvSpPr>
        <p:spPr>
          <a:xfrm>
            <a:off x="6636081" y="2557308"/>
            <a:ext cx="1688373" cy="263922"/>
          </a:xfrm>
          <a:custGeom>
            <a:avLst/>
            <a:gdLst/>
            <a:ahLst/>
            <a:cxnLst/>
            <a:rect l="l" t="t" r="r" b="b"/>
            <a:pathLst>
              <a:path w="1688373" h="263922">
                <a:moveTo>
                  <a:pt x="131961" y="0"/>
                </a:moveTo>
                <a:lnTo>
                  <a:pt x="1556412" y="0"/>
                </a:lnTo>
                <a:arcTo hR="131961" wR="131961" stAng="16200000" swAng="5400000"/>
                <a:lnTo>
                  <a:pt x="1688373" y="131961"/>
                </a:lnTo>
                <a:arcTo hR="131961" wR="131961" stAng="0" swAng="5400000"/>
                <a:lnTo>
                  <a:pt x="131961" y="263922"/>
                </a:lnTo>
                <a:arcTo hR="131961" wR="131961" stAng="5400000" swAng="5400000"/>
                <a:lnTo>
                  <a:pt x="0" y="131961"/>
                </a:lnTo>
                <a:arcTo hR="131961" wR="131961"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단계 2 · 사람+Copilot</a:t>
            </a:r>
            <a:endParaRPr lang="en-US" sz="1200" dirty="0"/>
          </a:p>
        </p:txBody>
      </p:sp>
      <p:pic>
        <p:nvPicPr>
          <p:cNvPr id="29" name="Image 4" descr="Check">    </p:cNvPr>
          <p:cNvPicPr>
            <a:picLocks noChangeAspect="1"/>
          </p:cNvPicPr>
          <p:nvPr/>
        </p:nvPicPr>
        <p:blipFill>
          <a:blip r:embed="rId5"/>
          <a:srcRect l="0" r="0" t="0" b="0"/>
          <a:stretch/>
        </p:blipFill>
        <p:spPr>
          <a:xfrm>
            <a:off x="7302500" y="2884730"/>
            <a:ext cx="355534" cy="355534"/>
          </a:xfrm>
          <a:prstGeom prst="rect">
            <a:avLst/>
          </a:prstGeom>
        </p:spPr>
      </p:pic>
      <p:sp>
        <p:nvSpPr>
          <p:cNvPr id="30" name="Text 23"/>
          <p:cNvSpPr/>
          <p:nvPr/>
        </p:nvSpPr>
        <p:spPr>
          <a:xfrm>
            <a:off x="6459439" y="3303764"/>
            <a:ext cx="2041657" cy="299685"/>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2202F"/>
                </a:solidFill>
                <a:latin typeface="Arial" pitchFamily="34" charset="0"/>
                <a:ea typeface="Arial" pitchFamily="34" charset="-122"/>
                <a:cs typeface="Arial" pitchFamily="34" charset="-120"/>
              </a:rPr>
              <a:t>3. 검토·반영한다</a:t>
            </a:r>
            <a:endParaRPr lang="en-US" sz="1800" dirty="0"/>
          </a:p>
        </p:txBody>
      </p:sp>
      <p:sp>
        <p:nvSpPr>
          <p:cNvPr id="31" name="Text 24"/>
          <p:cNvSpPr/>
          <p:nvPr/>
        </p:nvSpPr>
        <p:spPr>
          <a:xfrm>
            <a:off x="6576395" y="3641549"/>
            <a:ext cx="1807633" cy="23861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사람이 승인·반려 판정</a:t>
            </a:r>
            <a:endParaRPr lang="en-US" sz="1200" dirty="0"/>
          </a:p>
        </p:txBody>
      </p:sp>
      <p:sp>
        <p:nvSpPr>
          <p:cNvPr id="32" name="Text 25"/>
          <p:cNvSpPr/>
          <p:nvPr/>
        </p:nvSpPr>
        <p:spPr>
          <a:xfrm>
            <a:off x="6725555" y="3918259"/>
            <a:ext cx="1509316" cy="487759"/>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Arial" pitchFamily="34" charset="0"/>
                <a:ea typeface="Arial" pitchFamily="34" charset="-122"/>
                <a:cs typeface="Arial" pitchFamily="34" charset="-120"/>
              </a:rPr>
              <a:t>승인 → 설계도 반영</a:t>
            </a:r>
            <a:endParaRPr lang="en-US" sz="1300" dirty="0"/>
          </a:p>
          <a:p>
            <a:pPr algn="ctr" indent="0" marL="0">
              <a:lnSpc>
                <a:spcPts val="1820"/>
              </a:lnSpc>
              <a:buNone/>
            </a:pPr>
            <a:r>
              <a:rPr lang="en-US" sz="1300" dirty="0">
                <a:solidFill>
                  <a:srgbClr val="4A5568"/>
                </a:solidFill>
                <a:latin typeface="Arial" pitchFamily="34" charset="0"/>
                <a:ea typeface="Arial" pitchFamily="34" charset="-122"/>
                <a:cs typeface="Arial" pitchFamily="34" charset="-120"/>
              </a:rPr>
              <a:t>반려 → 원복 권고</a:t>
            </a:r>
            <a:endParaRPr lang="en-US" sz="1300" dirty="0"/>
          </a:p>
        </p:txBody>
      </p:sp>
      <p:pic>
        <p:nvPicPr>
          <p:cNvPr id="33" name="Image 5" descr="arrow-right">    </p:cNvPr>
          <p:cNvPicPr>
            <a:picLocks noChangeAspect="1"/>
          </p:cNvPicPr>
          <p:nvPr/>
        </p:nvPicPr>
        <p:blipFill>
          <a:blip r:embed="rId6"/>
          <a:srcRect l="0" r="0" t="0" b="0"/>
          <a:stretch/>
        </p:blipFill>
        <p:spPr>
          <a:xfrm>
            <a:off x="8712178" y="3392730"/>
            <a:ext cx="304712" cy="152356"/>
          </a:xfrm>
          <a:prstGeom prst="rect">
            <a:avLst/>
          </a:prstGeom>
        </p:spPr>
      </p:pic>
      <p:sp>
        <p:nvSpPr>
          <p:cNvPr id="34" name="Shape 26"/>
          <p:cNvSpPr/>
          <p:nvPr/>
        </p:nvSpPr>
        <p:spPr>
          <a:xfrm>
            <a:off x="9124774" y="2219149"/>
            <a:ext cx="2248165" cy="2499629"/>
          </a:xfrm>
          <a:prstGeom prst="roundRect">
            <a:avLst>
              <a:gd name="adj" fmla="val 4237"/>
            </a:avLst>
          </a:prstGeom>
          <a:solidFill>
            <a:srgbClr val="FCFBF8"/>
          </a:solidFill>
          <a:ln w="12700">
            <a:solidFill>
              <a:srgbClr val="2563C9"/>
            </a:solidFill>
            <a:prstDash val="solid"/>
          </a:ln>
        </p:spPr>
      </p:sp>
      <p:sp>
        <p:nvSpPr>
          <p:cNvPr id="35" name="Text 27"/>
          <p:cNvSpPr/>
          <p:nvPr/>
        </p:nvSpPr>
        <p:spPr>
          <a:xfrm>
            <a:off x="9601509" y="2346854"/>
            <a:ext cx="1294695" cy="263922"/>
          </a:xfrm>
          <a:custGeom>
            <a:avLst/>
            <a:gdLst/>
            <a:ahLst/>
            <a:cxnLst/>
            <a:rect l="l" t="t" r="r" b="b"/>
            <a:pathLst>
              <a:path w="1294695" h="263922">
                <a:moveTo>
                  <a:pt x="131961" y="0"/>
                </a:moveTo>
                <a:lnTo>
                  <a:pt x="1162734" y="0"/>
                </a:lnTo>
                <a:arcTo hR="131961" wR="131961" stAng="16200000" swAng="5400000"/>
                <a:lnTo>
                  <a:pt x="1294695" y="131961"/>
                </a:lnTo>
                <a:arcTo hR="131961" wR="131961" stAng="0" swAng="5400000"/>
                <a:lnTo>
                  <a:pt x="131961" y="263922"/>
                </a:lnTo>
                <a:arcTo hR="131961" wR="131961" stAng="5400000" swAng="5400000"/>
                <a:lnTo>
                  <a:pt x="0" y="131961"/>
                </a:lnTo>
                <a:arcTo hR="131961" wR="131961"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단계 3 · Copilot</a:t>
            </a:r>
            <a:endParaRPr lang="en-US" sz="1200" dirty="0"/>
          </a:p>
        </p:txBody>
      </p:sp>
      <p:pic>
        <p:nvPicPr>
          <p:cNvPr id="36" name="Image 6" descr="PaperPlane">    </p:cNvPr>
          <p:cNvPicPr>
            <a:picLocks noChangeAspect="1"/>
          </p:cNvPicPr>
          <p:nvPr/>
        </p:nvPicPr>
        <p:blipFill>
          <a:blip r:embed="rId7"/>
          <a:srcRect l="0" r="0" t="0" b="0"/>
          <a:stretch/>
        </p:blipFill>
        <p:spPr>
          <a:xfrm>
            <a:off x="10071034" y="2674276"/>
            <a:ext cx="355534" cy="355534"/>
          </a:xfrm>
          <a:prstGeom prst="rect">
            <a:avLst/>
          </a:prstGeom>
        </p:spPr>
      </p:pic>
      <p:sp>
        <p:nvSpPr>
          <p:cNvPr id="37" name="Text 28"/>
          <p:cNvSpPr/>
          <p:nvPr/>
        </p:nvSpPr>
        <p:spPr>
          <a:xfrm>
            <a:off x="9547854" y="3093310"/>
            <a:ext cx="1401895" cy="299685"/>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2202F"/>
                </a:solidFill>
                <a:latin typeface="Arial" pitchFamily="34" charset="0"/>
                <a:ea typeface="Arial" pitchFamily="34" charset="-122"/>
                <a:cs typeface="Arial" pitchFamily="34" charset="-120"/>
              </a:rPr>
              <a:t>4. 공유한다</a:t>
            </a:r>
            <a:endParaRPr lang="en-US" sz="1800" dirty="0"/>
          </a:p>
        </p:txBody>
      </p:sp>
      <p:sp>
        <p:nvSpPr>
          <p:cNvPr id="38" name="Shape 29"/>
          <p:cNvSpPr/>
          <p:nvPr/>
        </p:nvSpPr>
        <p:spPr>
          <a:xfrm>
            <a:off x="9274947" y="3434270"/>
            <a:ext cx="1947708" cy="548283"/>
          </a:xfrm>
          <a:prstGeom prst="roundRect">
            <a:avLst>
              <a:gd name="adj" fmla="val 11003"/>
            </a:avLst>
          </a:prstGeom>
          <a:solidFill>
            <a:srgbClr val="F1ECFB"/>
          </a:solidFill>
          <a:ln w="6350">
            <a:solidFill>
              <a:srgbClr val="7C5CCF"/>
            </a:solidFill>
            <a:prstDash val="solid"/>
          </a:ln>
        </p:spPr>
      </p:sp>
      <p:sp>
        <p:nvSpPr>
          <p:cNvPr id="39" name="Text 30"/>
          <p:cNvSpPr/>
          <p:nvPr/>
        </p:nvSpPr>
        <p:spPr>
          <a:xfrm>
            <a:off x="9380362" y="3488862"/>
            <a:ext cx="1788986"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3FB0"/>
                </a:solidFill>
                <a:latin typeface="Arial" pitchFamily="34" charset="0"/>
                <a:ea typeface="Arial" pitchFamily="34" charset="-122"/>
                <a:cs typeface="Arial" pitchFamily="34" charset="-120"/>
              </a:rPr>
              <a:t>3-A · Obsidian</a:t>
            </a:r>
            <a:endParaRPr lang="en-US" sz="1200" dirty="0"/>
          </a:p>
        </p:txBody>
      </p:sp>
      <p:sp>
        <p:nvSpPr>
          <p:cNvPr id="40" name="Text 31"/>
          <p:cNvSpPr/>
          <p:nvPr/>
        </p:nvSpPr>
        <p:spPr>
          <a:xfrm>
            <a:off x="9380362" y="3714750"/>
            <a:ext cx="1788986"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Courier New" pitchFamily="49" charset="0"/>
                <a:ea typeface="Courier New" pitchFamily="49" charset="-122"/>
                <a:cs typeface="Courier New" pitchFamily="49" charset="-120"/>
              </a:rPr>
              <a:t>/weekly-report</a:t>
            </a:r>
            <a:endParaRPr lang="en-US" sz="1200" dirty="0"/>
          </a:p>
        </p:txBody>
      </p:sp>
      <p:sp>
        <p:nvSpPr>
          <p:cNvPr id="41" name="Shape 32"/>
          <p:cNvSpPr/>
          <p:nvPr/>
        </p:nvSpPr>
        <p:spPr>
          <a:xfrm>
            <a:off x="9274947" y="4039614"/>
            <a:ext cx="1947708" cy="548283"/>
          </a:xfrm>
          <a:prstGeom prst="roundRect">
            <a:avLst>
              <a:gd name="adj" fmla="val 11003"/>
            </a:avLst>
          </a:prstGeom>
          <a:solidFill>
            <a:srgbClr val="E3ECFB"/>
          </a:solidFill>
          <a:ln w="6350">
            <a:solidFill>
              <a:srgbClr val="2563C9"/>
            </a:solidFill>
            <a:prstDash val="solid"/>
          </a:ln>
        </p:spPr>
      </p:sp>
      <p:sp>
        <p:nvSpPr>
          <p:cNvPr id="42" name="Text 33"/>
          <p:cNvSpPr/>
          <p:nvPr/>
        </p:nvSpPr>
        <p:spPr>
          <a:xfrm>
            <a:off x="9380362" y="4094207"/>
            <a:ext cx="1788986"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Arial" pitchFamily="34" charset="0"/>
                <a:ea typeface="Arial" pitchFamily="34" charset="-122"/>
                <a:cs typeface="Arial" pitchFamily="34" charset="-120"/>
              </a:rPr>
              <a:t>3-B · Confluence</a:t>
            </a:r>
            <a:endParaRPr lang="en-US" sz="1200" dirty="0"/>
          </a:p>
        </p:txBody>
      </p:sp>
      <p:sp>
        <p:nvSpPr>
          <p:cNvPr id="43" name="Text 34"/>
          <p:cNvSpPr/>
          <p:nvPr/>
        </p:nvSpPr>
        <p:spPr>
          <a:xfrm>
            <a:off x="9380362" y="4320095"/>
            <a:ext cx="1839119"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Courier New" pitchFamily="49" charset="0"/>
                <a:ea typeface="Courier New" pitchFamily="49" charset="-122"/>
                <a:cs typeface="Courier New" pitchFamily="49" charset="-120"/>
              </a:rPr>
              <a:t>/confluence-publish</a:t>
            </a:r>
            <a:endParaRPr lang="en-US" sz="1200" dirty="0"/>
          </a:p>
        </p:txBody>
      </p:sp>
      <p:sp>
        <p:nvSpPr>
          <p:cNvPr id="44" name="Shape 35"/>
          <p:cNvSpPr/>
          <p:nvPr/>
        </p:nvSpPr>
        <p:spPr>
          <a:xfrm>
            <a:off x="812712" y="4826662"/>
            <a:ext cx="10566577" cy="406356"/>
          </a:xfrm>
          <a:prstGeom prst="roundRect">
            <a:avLst>
              <a:gd name="adj" fmla="val 18752"/>
            </a:avLst>
          </a:prstGeom>
          <a:solidFill>
            <a:srgbClr val="E3ECFB"/>
          </a:solidFill>
          <a:ln/>
        </p:spPr>
      </p:sp>
      <p:pic>
        <p:nvPicPr>
          <p:cNvPr id="45" name="Image 7" descr="Users">    </p:cNvPr>
          <p:cNvPicPr>
            <a:picLocks noChangeAspect="1"/>
          </p:cNvPicPr>
          <p:nvPr/>
        </p:nvPicPr>
        <p:blipFill>
          <a:blip r:embed="rId8"/>
          <a:srcRect l="0" r="0" t="0" b="0"/>
          <a:stretch/>
        </p:blipFill>
        <p:spPr>
          <a:xfrm>
            <a:off x="990424" y="4902839"/>
            <a:ext cx="254000" cy="254000"/>
          </a:xfrm>
          <a:prstGeom prst="rect">
            <a:avLst/>
          </a:prstGeom>
        </p:spPr>
      </p:pic>
      <p:sp>
        <p:nvSpPr>
          <p:cNvPr id="46" name="Text 36"/>
          <p:cNvSpPr/>
          <p:nvPr/>
        </p:nvSpPr>
        <p:spPr>
          <a:xfrm>
            <a:off x="1345958" y="4905375"/>
            <a:ext cx="6863292" cy="27432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02F"/>
                </a:solidFill>
                <a:latin typeface="Arial" pitchFamily="34" charset="0"/>
                <a:ea typeface="Arial" pitchFamily="34" charset="-122"/>
                <a:cs typeface="Arial" pitchFamily="34" charset="-120"/>
              </a:rPr>
              <a:t>사람은 판단과 승인만 한다</a:t>
            </a:r>
            <a:r>
              <a:rPr lang="en-US" sz="1400" dirty="0">
                <a:solidFill>
                  <a:srgbClr val="12202F"/>
                </a:solidFill>
                <a:latin typeface="Arial" pitchFamily="34" charset="0"/>
                <a:ea typeface="Arial" pitchFamily="34" charset="-122"/>
                <a:cs typeface="Arial" pitchFamily="34" charset="-120"/>
              </a:rPr>
              <a:t>: 변경 판정 · 일감 등록 · 변경 제안 · 외부 공유</a:t>
            </a:r>
            <a:endParaRPr lang="en-US" sz="1400" dirty="0"/>
          </a:p>
        </p:txBody>
      </p:sp>
      <p:sp>
        <p:nvSpPr>
          <p:cNvPr id="47" name="Shape 37"/>
          <p:cNvSpPr/>
          <p:nvPr/>
        </p:nvSpPr>
        <p:spPr>
          <a:xfrm>
            <a:off x="812712" y="5334552"/>
            <a:ext cx="10566577" cy="802459"/>
          </a:xfrm>
          <a:prstGeom prst="roundRect">
            <a:avLst>
              <a:gd name="adj" fmla="val 12661"/>
            </a:avLst>
          </a:prstGeom>
          <a:solidFill>
            <a:srgbClr val="12202F"/>
          </a:solidFill>
          <a:ln/>
        </p:spPr>
      </p:sp>
      <p:sp>
        <p:nvSpPr>
          <p:cNvPr id="48" name="Text 38"/>
          <p:cNvSpPr/>
          <p:nvPr/>
        </p:nvSpPr>
        <p:spPr>
          <a:xfrm>
            <a:off x="1066712" y="5461552"/>
            <a:ext cx="5988986"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Arial" pitchFamily="34" charset="0"/>
                <a:ea typeface="Arial" pitchFamily="34" charset="-122"/>
                <a:cs typeface="Arial" pitchFamily="34" charset="-120"/>
              </a:rPr>
              <a:t>오늘의 메시지</a:t>
            </a:r>
            <a:endParaRPr lang="en-US" sz="1200" dirty="0"/>
          </a:p>
        </p:txBody>
      </p:sp>
      <p:sp>
        <p:nvSpPr>
          <p:cNvPr id="49" name="Text 39"/>
          <p:cNvSpPr/>
          <p:nvPr/>
        </p:nvSpPr>
        <p:spPr>
          <a:xfrm>
            <a:off x="1066712" y="5712795"/>
            <a:ext cx="6622631" cy="322615"/>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5F4EF"/>
                </a:solidFill>
                <a:latin typeface="Arial" pitchFamily="34" charset="0"/>
                <a:ea typeface="Arial" pitchFamily="34" charset="-122"/>
                <a:cs typeface="Arial" pitchFamily="34" charset="-120"/>
              </a:rPr>
              <a:t>GitHub Copilot은 여러분의 업무 절차를 실행하는 동료다</a:t>
            </a:r>
            <a:endParaRPr lang="en-US" sz="1800" dirty="0"/>
          </a:p>
        </p:txBody>
      </p:sp>
      <p:sp>
        <p:nvSpPr>
          <p:cNvPr id="50" name="Text 40"/>
          <p:cNvSpPr/>
          <p:nvPr/>
        </p:nvSpPr>
        <p:spPr>
          <a:xfrm>
            <a:off x="9662804" y="5491979"/>
            <a:ext cx="1462484" cy="23861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2A65A"/>
                </a:solidFill>
                <a:latin typeface="Arial" pitchFamily="34" charset="0"/>
                <a:ea typeface="Arial" pitchFamily="34" charset="-122"/>
                <a:cs typeface="Arial" pitchFamily="34" charset="-120"/>
              </a:rPr>
              <a:t>단계 4 · 비밀 공개</a:t>
            </a:r>
            <a:endParaRPr lang="en-US" sz="1200" dirty="0"/>
          </a:p>
        </p:txBody>
      </p:sp>
      <p:sp>
        <p:nvSpPr>
          <p:cNvPr id="51" name="Text 41"/>
          <p:cNvSpPr/>
          <p:nvPr/>
        </p:nvSpPr>
        <p:spPr>
          <a:xfrm>
            <a:off x="7971852" y="5730544"/>
            <a:ext cx="3153437" cy="274329"/>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DE"/>
                </a:solidFill>
                <a:latin typeface="Arial" pitchFamily="34" charset="0"/>
                <a:ea typeface="Arial" pitchFamily="34" charset="-122"/>
                <a:cs typeface="Arial" pitchFamily="34" charset="-120"/>
              </a:rPr>
              <a:t>코드 0줄, 한국어 업무 매뉴얼 4장</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4"/>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왜 GitHub Copilot인가</a:t>
            </a:r>
            <a:endParaRPr lang="en-US" sz="1200" dirty="0"/>
          </a:p>
        </p:txBody>
      </p:sp>
      <p:sp>
        <p:nvSpPr>
          <p:cNvPr id="3" name="Text 1"/>
          <p:cNvSpPr/>
          <p:nvPr>
            <p:ph type="title"/>
          </p:nvPr>
        </p:nvSpPr>
        <p:spPr>
          <a:xfrm>
            <a:off x="812712" y="898922"/>
            <a:ext cx="10883574" cy="49261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2F"/>
                </a:solidFill>
                <a:latin typeface="Arial" pitchFamily="34" charset="0"/>
                <a:ea typeface="Arial" pitchFamily="34" charset="-122"/>
                <a:cs typeface="Arial" pitchFamily="34" charset="-120"/>
              </a:rPr>
              <a:t>여러 화면을 오가던 일을 문장 한 줄로</a:t>
            </a:r>
            <a:endParaRPr lang="en-US" sz="3200" dirty="0"/>
          </a:p>
        </p:txBody>
      </p:sp>
      <p:sp>
        <p:nvSpPr>
          <p:cNvPr id="4" name="Text 2"/>
          <p:cNvSpPr/>
          <p:nvPr/>
        </p:nvSpPr>
        <p:spPr>
          <a:xfrm>
            <a:off x="812712" y="1543845"/>
            <a:ext cx="5389440"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Arial" pitchFamily="34" charset="0"/>
                <a:ea typeface="Arial" pitchFamily="34" charset="-122"/>
                <a:cs typeface="Arial" pitchFamily="34" charset="-120"/>
              </a:rPr>
              <a:t>이런 적 있으시죠?</a:t>
            </a:r>
            <a:endParaRPr lang="en-US" sz="1200" dirty="0"/>
          </a:p>
        </p:txBody>
      </p:sp>
      <p:sp>
        <p:nvSpPr>
          <p:cNvPr id="5" name="Text 3"/>
          <p:cNvSpPr/>
          <p:nvPr/>
        </p:nvSpPr>
        <p:spPr>
          <a:xfrm>
            <a:off x="6146712" y="1543845"/>
            <a:ext cx="538955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Copilot에게 맡기면</a:t>
            </a:r>
            <a:endParaRPr lang="en-US" sz="1200" dirty="0"/>
          </a:p>
        </p:txBody>
      </p:sp>
      <p:sp>
        <p:nvSpPr>
          <p:cNvPr id="6" name="Shape 4"/>
          <p:cNvSpPr/>
          <p:nvPr/>
        </p:nvSpPr>
        <p:spPr>
          <a:xfrm>
            <a:off x="815887" y="1836407"/>
            <a:ext cx="5023049" cy="708686"/>
          </a:xfrm>
          <a:prstGeom prst="roundRect">
            <a:avLst>
              <a:gd name="adj" fmla="val 10304"/>
            </a:avLst>
          </a:prstGeom>
          <a:solidFill>
            <a:srgbClr val="FFF4E8"/>
          </a:solidFill>
          <a:ln w="6350">
            <a:solidFill>
              <a:srgbClr val="F2A65A"/>
            </a:solidFill>
            <a:prstDash val="solid"/>
          </a:ln>
        </p:spPr>
      </p:sp>
      <p:pic>
        <p:nvPicPr>
          <p:cNvPr id="7" name="Image 0" descr="Clock">    </p:cNvPr>
          <p:cNvPicPr>
            <a:picLocks noChangeAspect="1"/>
          </p:cNvPicPr>
          <p:nvPr/>
        </p:nvPicPr>
        <p:blipFill>
          <a:blip r:embed="rId1"/>
          <a:srcRect l="-159" r="-159" t="0" b="0"/>
          <a:stretch/>
        </p:blipFill>
        <p:spPr>
          <a:xfrm>
            <a:off x="972123" y="2063751"/>
            <a:ext cx="235700" cy="254000"/>
          </a:xfrm>
          <a:prstGeom prst="rect">
            <a:avLst/>
          </a:prstGeom>
        </p:spPr>
      </p:pic>
      <p:sp>
        <p:nvSpPr>
          <p:cNvPr id="8" name="Text 5"/>
          <p:cNvSpPr/>
          <p:nvPr/>
        </p:nvSpPr>
        <p:spPr>
          <a:xfrm>
            <a:off x="1309357" y="1941822"/>
            <a:ext cx="4504543"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누가 뭘 바꿨는지 찾느라 각 서비스 및 시스템 화면을 오간다</a:t>
            </a:r>
            <a:endParaRPr lang="en-US" sz="1400" dirty="0"/>
          </a:p>
        </p:txBody>
      </p:sp>
      <p:pic>
        <p:nvPicPr>
          <p:cNvPr id="9" name="Image 1" descr="arrow-right">    </p:cNvPr>
          <p:cNvPicPr>
            <a:picLocks noChangeAspect="1"/>
          </p:cNvPicPr>
          <p:nvPr/>
        </p:nvPicPr>
        <p:blipFill>
          <a:blip r:embed="rId2"/>
          <a:srcRect l="0" r="0" t="0" b="0"/>
          <a:stretch/>
        </p:blipFill>
        <p:spPr>
          <a:xfrm>
            <a:off x="5943645" y="2114572"/>
            <a:ext cx="304712" cy="152356"/>
          </a:xfrm>
          <a:prstGeom prst="rect">
            <a:avLst/>
          </a:prstGeom>
        </p:spPr>
      </p:pic>
      <p:sp>
        <p:nvSpPr>
          <p:cNvPr id="10" name="Shape 6"/>
          <p:cNvSpPr/>
          <p:nvPr/>
        </p:nvSpPr>
        <p:spPr>
          <a:xfrm>
            <a:off x="6353065" y="1958336"/>
            <a:ext cx="5023049" cy="464829"/>
          </a:xfrm>
          <a:prstGeom prst="roundRect">
            <a:avLst>
              <a:gd name="adj" fmla="val 15710"/>
            </a:avLst>
          </a:prstGeom>
          <a:solidFill>
            <a:srgbClr val="E3ECFB"/>
          </a:solidFill>
          <a:ln w="6350">
            <a:solidFill>
              <a:srgbClr val="2563C9"/>
            </a:solidFill>
            <a:prstDash val="solid"/>
          </a:ln>
        </p:spPr>
      </p:sp>
      <p:pic>
        <p:nvPicPr>
          <p:cNvPr id="11" name="Image 2" descr="Search">    </p:cNvPr>
          <p:cNvPicPr>
            <a:picLocks noChangeAspect="1"/>
          </p:cNvPicPr>
          <p:nvPr/>
        </p:nvPicPr>
        <p:blipFill>
          <a:blip r:embed="rId3"/>
          <a:srcRect l="0" r="0" t="0" b="0"/>
          <a:stretch/>
        </p:blipFill>
        <p:spPr>
          <a:xfrm>
            <a:off x="6509302" y="2063751"/>
            <a:ext cx="254000" cy="254000"/>
          </a:xfrm>
          <a:prstGeom prst="rect">
            <a:avLst/>
          </a:prstGeom>
        </p:spPr>
      </p:pic>
      <p:sp>
        <p:nvSpPr>
          <p:cNvPr id="12" name="Text 7"/>
          <p:cNvSpPr/>
          <p:nvPr/>
        </p:nvSpPr>
        <p:spPr>
          <a:xfrm>
            <a:off x="6864835" y="2066286"/>
            <a:ext cx="4278974"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문장 한 줄이면 누가·언제·무엇을 정리해 준다</a:t>
            </a:r>
            <a:endParaRPr lang="en-US" sz="1400" dirty="0"/>
          </a:p>
        </p:txBody>
      </p:sp>
      <p:sp>
        <p:nvSpPr>
          <p:cNvPr id="13" name="Shape 8"/>
          <p:cNvSpPr/>
          <p:nvPr/>
        </p:nvSpPr>
        <p:spPr>
          <a:xfrm>
            <a:off x="815887" y="2627622"/>
            <a:ext cx="5023049" cy="708686"/>
          </a:xfrm>
          <a:prstGeom prst="roundRect">
            <a:avLst>
              <a:gd name="adj" fmla="val 10304"/>
            </a:avLst>
          </a:prstGeom>
          <a:solidFill>
            <a:srgbClr val="FFF4E8"/>
          </a:solidFill>
          <a:ln w="6350">
            <a:solidFill>
              <a:srgbClr val="F2A65A"/>
            </a:solidFill>
            <a:prstDash val="solid"/>
          </a:ln>
        </p:spPr>
      </p:sp>
      <p:pic>
        <p:nvPicPr>
          <p:cNvPr id="14" name="Image 3" descr="Warning">    </p:cNvPr>
          <p:cNvPicPr>
            <a:picLocks noChangeAspect="1"/>
          </p:cNvPicPr>
          <p:nvPr/>
        </p:nvPicPr>
        <p:blipFill>
          <a:blip r:embed="rId4"/>
          <a:srcRect l="0" r="0" t="-328" b="-328"/>
          <a:stretch/>
        </p:blipFill>
        <p:spPr>
          <a:xfrm>
            <a:off x="972123" y="2854964"/>
            <a:ext cx="252346" cy="254000"/>
          </a:xfrm>
          <a:prstGeom prst="rect">
            <a:avLst/>
          </a:prstGeom>
        </p:spPr>
      </p:pic>
      <p:sp>
        <p:nvSpPr>
          <p:cNvPr id="15" name="Text 9"/>
          <p:cNvSpPr/>
          <p:nvPr/>
        </p:nvSpPr>
        <p:spPr>
          <a:xfrm>
            <a:off x="1326004" y="2733036"/>
            <a:ext cx="4487397"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실제 구성이 고객에게 제출한 산출물과 내용이 상이하다</a:t>
            </a:r>
            <a:endParaRPr lang="en-US" sz="1400" dirty="0"/>
          </a:p>
        </p:txBody>
      </p:sp>
      <p:pic>
        <p:nvPicPr>
          <p:cNvPr id="16" name="Image 4" descr="arrow-right">    </p:cNvPr>
          <p:cNvPicPr>
            <a:picLocks noChangeAspect="1"/>
          </p:cNvPicPr>
          <p:nvPr/>
        </p:nvPicPr>
        <p:blipFill>
          <a:blip r:embed="rId5"/>
          <a:srcRect l="0" r="0" t="0" b="0"/>
          <a:stretch/>
        </p:blipFill>
        <p:spPr>
          <a:xfrm>
            <a:off x="5943645" y="2905787"/>
            <a:ext cx="304712" cy="152356"/>
          </a:xfrm>
          <a:prstGeom prst="rect">
            <a:avLst/>
          </a:prstGeom>
        </p:spPr>
      </p:pic>
      <p:sp>
        <p:nvSpPr>
          <p:cNvPr id="17" name="Shape 10"/>
          <p:cNvSpPr/>
          <p:nvPr/>
        </p:nvSpPr>
        <p:spPr>
          <a:xfrm>
            <a:off x="6353065" y="2749551"/>
            <a:ext cx="5023049" cy="464829"/>
          </a:xfrm>
          <a:prstGeom prst="roundRect">
            <a:avLst>
              <a:gd name="adj" fmla="val 15710"/>
            </a:avLst>
          </a:prstGeom>
          <a:solidFill>
            <a:srgbClr val="E3ECFB"/>
          </a:solidFill>
          <a:ln w="6350">
            <a:solidFill>
              <a:srgbClr val="2563C9"/>
            </a:solidFill>
            <a:prstDash val="solid"/>
          </a:ln>
        </p:spPr>
      </p:sp>
      <p:pic>
        <p:nvPicPr>
          <p:cNvPr id="18" name="Image 5" descr="Wrench">    </p:cNvPr>
          <p:cNvPicPr>
            <a:picLocks noChangeAspect="1"/>
          </p:cNvPicPr>
          <p:nvPr/>
        </p:nvPicPr>
        <p:blipFill>
          <a:blip r:embed="rId6"/>
          <a:srcRect l="0" r="0" t="0" b="0"/>
          <a:stretch/>
        </p:blipFill>
        <p:spPr>
          <a:xfrm>
            <a:off x="6509302" y="2854964"/>
            <a:ext cx="254000" cy="254000"/>
          </a:xfrm>
          <a:prstGeom prst="rect">
            <a:avLst/>
          </a:prstGeom>
        </p:spPr>
      </p:pic>
      <p:sp>
        <p:nvSpPr>
          <p:cNvPr id="19" name="Text 11"/>
          <p:cNvSpPr/>
          <p:nvPr/>
        </p:nvSpPr>
        <p:spPr>
          <a:xfrm>
            <a:off x="6864835" y="2857501"/>
            <a:ext cx="4136893"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설계도와 산출물을 실제에 맞춰 함께 고친다</a:t>
            </a:r>
            <a:endParaRPr lang="en-US" sz="1400" dirty="0"/>
          </a:p>
        </p:txBody>
      </p:sp>
      <p:sp>
        <p:nvSpPr>
          <p:cNvPr id="20" name="Shape 12"/>
          <p:cNvSpPr/>
          <p:nvPr/>
        </p:nvSpPr>
        <p:spPr>
          <a:xfrm>
            <a:off x="815887" y="3418836"/>
            <a:ext cx="5023049" cy="464829"/>
          </a:xfrm>
          <a:prstGeom prst="roundRect">
            <a:avLst>
              <a:gd name="adj" fmla="val 15710"/>
            </a:avLst>
          </a:prstGeom>
          <a:solidFill>
            <a:srgbClr val="FFF4E8"/>
          </a:solidFill>
          <a:ln w="6350">
            <a:solidFill>
              <a:srgbClr val="F2A65A"/>
            </a:solidFill>
            <a:prstDash val="solid"/>
          </a:ln>
        </p:spPr>
      </p:sp>
      <p:pic>
        <p:nvPicPr>
          <p:cNvPr id="21" name="Image 6" descr="Book">    </p:cNvPr>
          <p:cNvPicPr>
            <a:picLocks noChangeAspect="1"/>
          </p:cNvPicPr>
          <p:nvPr/>
        </p:nvPicPr>
        <p:blipFill>
          <a:blip r:embed="rId7"/>
          <a:srcRect l="0" r="0" t="0" b="0"/>
          <a:stretch/>
        </p:blipFill>
        <p:spPr>
          <a:xfrm>
            <a:off x="972123" y="3524251"/>
            <a:ext cx="254000" cy="254000"/>
          </a:xfrm>
          <a:prstGeom prst="rect">
            <a:avLst/>
          </a:prstGeom>
        </p:spPr>
      </p:pic>
      <p:sp>
        <p:nvSpPr>
          <p:cNvPr id="22" name="Text 13"/>
          <p:cNvSpPr/>
          <p:nvPr/>
        </p:nvSpPr>
        <p:spPr>
          <a:xfrm>
            <a:off x="1327657" y="3526786"/>
            <a:ext cx="4207933"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주간 보고서, 복사·붙여넣기로 금요일이 간다</a:t>
            </a:r>
            <a:endParaRPr lang="en-US" sz="1400" dirty="0"/>
          </a:p>
        </p:txBody>
      </p:sp>
      <p:pic>
        <p:nvPicPr>
          <p:cNvPr id="23" name="Image 7" descr="arrow-right">    </p:cNvPr>
          <p:cNvPicPr>
            <a:picLocks noChangeAspect="1"/>
          </p:cNvPicPr>
          <p:nvPr/>
        </p:nvPicPr>
        <p:blipFill>
          <a:blip r:embed="rId8"/>
          <a:srcRect l="0" r="0" t="0" b="0"/>
          <a:stretch/>
        </p:blipFill>
        <p:spPr>
          <a:xfrm>
            <a:off x="5943645" y="3575072"/>
            <a:ext cx="304712" cy="152356"/>
          </a:xfrm>
          <a:prstGeom prst="rect">
            <a:avLst/>
          </a:prstGeom>
        </p:spPr>
      </p:pic>
      <p:sp>
        <p:nvSpPr>
          <p:cNvPr id="24" name="Shape 14"/>
          <p:cNvSpPr/>
          <p:nvPr/>
        </p:nvSpPr>
        <p:spPr>
          <a:xfrm>
            <a:off x="6353065" y="3418836"/>
            <a:ext cx="5023049" cy="464829"/>
          </a:xfrm>
          <a:prstGeom prst="roundRect">
            <a:avLst>
              <a:gd name="adj" fmla="val 15710"/>
            </a:avLst>
          </a:prstGeom>
          <a:solidFill>
            <a:srgbClr val="E3ECFB"/>
          </a:solidFill>
          <a:ln w="6350">
            <a:solidFill>
              <a:srgbClr val="2563C9"/>
            </a:solidFill>
            <a:prstDash val="solid"/>
          </a:ln>
        </p:spPr>
      </p:sp>
      <p:pic>
        <p:nvPicPr>
          <p:cNvPr id="25" name="Image 8" descr="PaperPlane">    </p:cNvPr>
          <p:cNvPicPr>
            <a:picLocks noChangeAspect="1"/>
          </p:cNvPicPr>
          <p:nvPr/>
        </p:nvPicPr>
        <p:blipFill>
          <a:blip r:embed="rId9"/>
          <a:srcRect l="0" r="0" t="0" b="0"/>
          <a:stretch/>
        </p:blipFill>
        <p:spPr>
          <a:xfrm>
            <a:off x="6509302" y="3524251"/>
            <a:ext cx="254000" cy="254000"/>
          </a:xfrm>
          <a:prstGeom prst="rect">
            <a:avLst/>
          </a:prstGeom>
        </p:spPr>
      </p:pic>
      <p:sp>
        <p:nvSpPr>
          <p:cNvPr id="26" name="Text 15"/>
          <p:cNvSpPr/>
          <p:nvPr/>
        </p:nvSpPr>
        <p:spPr>
          <a:xfrm>
            <a:off x="6864835" y="3526786"/>
            <a:ext cx="4303977"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Arial" pitchFamily="34" charset="0"/>
                <a:ea typeface="Arial" pitchFamily="34" charset="-122"/>
                <a:cs typeface="Arial" pitchFamily="34" charset="-120"/>
              </a:rPr>
              <a:t>보고서를 써서 Obsidian·Confluence에 올린다</a:t>
            </a:r>
            <a:endParaRPr lang="en-US" sz="1400" dirty="0"/>
          </a:p>
        </p:txBody>
      </p:sp>
      <p:sp>
        <p:nvSpPr>
          <p:cNvPr id="27" name="Text 16"/>
          <p:cNvSpPr/>
          <p:nvPr/>
        </p:nvSpPr>
        <p:spPr>
          <a:xfrm>
            <a:off x="812712" y="4064552"/>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기존 자동화·AI 챗봇과 다른 점</a:t>
            </a:r>
            <a:endParaRPr lang="en-US" sz="1200" dirty="0"/>
          </a:p>
        </p:txBody>
      </p:sp>
      <p:sp>
        <p:nvSpPr>
          <p:cNvPr id="28" name="Shape 17"/>
          <p:cNvSpPr/>
          <p:nvPr/>
        </p:nvSpPr>
        <p:spPr>
          <a:xfrm>
            <a:off x="815887" y="4357115"/>
            <a:ext cx="2559116" cy="982641"/>
          </a:xfrm>
          <a:prstGeom prst="roundRect">
            <a:avLst>
              <a:gd name="adj" fmla="val 7432"/>
            </a:avLst>
          </a:prstGeom>
          <a:solidFill>
            <a:srgbClr val="FCFBF8"/>
          </a:solidFill>
          <a:ln w="6350">
            <a:solidFill>
              <a:srgbClr val="DCD8CC"/>
            </a:solidFill>
            <a:prstDash val="solid"/>
          </a:ln>
        </p:spPr>
      </p:sp>
      <p:pic>
        <p:nvPicPr>
          <p:cNvPr id="29" name="Image 9" descr="Lightbulb">    </p:cNvPr>
          <p:cNvPicPr>
            <a:picLocks noChangeAspect="1"/>
          </p:cNvPicPr>
          <p:nvPr/>
        </p:nvPicPr>
        <p:blipFill>
          <a:blip r:embed="rId10"/>
          <a:srcRect l="0" r="0" t="0" b="0"/>
          <a:stretch/>
        </p:blipFill>
        <p:spPr>
          <a:xfrm>
            <a:off x="972123" y="4495602"/>
            <a:ext cx="228534" cy="228534"/>
          </a:xfrm>
          <a:prstGeom prst="rect">
            <a:avLst/>
          </a:prstGeom>
        </p:spPr>
      </p:pic>
      <p:sp>
        <p:nvSpPr>
          <p:cNvPr id="30" name="Text 18"/>
          <p:cNvSpPr/>
          <p:nvPr/>
        </p:nvSpPr>
        <p:spPr>
          <a:xfrm>
            <a:off x="1276835" y="4487995"/>
            <a:ext cx="975387"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판단한다</a:t>
            </a:r>
            <a:endParaRPr lang="en-US" sz="1600" dirty="0"/>
          </a:p>
        </p:txBody>
      </p:sp>
      <p:sp>
        <p:nvSpPr>
          <p:cNvPr id="31" name="Text 19"/>
          <p:cNvSpPr/>
          <p:nvPr/>
        </p:nvSpPr>
        <p:spPr>
          <a:xfrm>
            <a:off x="972123" y="4782455"/>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위험한 변경인지 사람처럼 1차로 가려낸다</a:t>
            </a:r>
            <a:endParaRPr lang="en-US" sz="1200" dirty="0"/>
          </a:p>
        </p:txBody>
      </p:sp>
      <p:sp>
        <p:nvSpPr>
          <p:cNvPr id="32" name="Shape 20"/>
          <p:cNvSpPr/>
          <p:nvPr/>
        </p:nvSpPr>
        <p:spPr>
          <a:xfrm>
            <a:off x="3482887" y="4357115"/>
            <a:ext cx="2559227" cy="982641"/>
          </a:xfrm>
          <a:prstGeom prst="roundRect">
            <a:avLst>
              <a:gd name="adj" fmla="val 7432"/>
            </a:avLst>
          </a:prstGeom>
          <a:solidFill>
            <a:srgbClr val="FCFBF8"/>
          </a:solidFill>
          <a:ln w="6350">
            <a:solidFill>
              <a:srgbClr val="DCD8CC"/>
            </a:solidFill>
            <a:prstDash val="solid"/>
          </a:ln>
        </p:spPr>
      </p:sp>
      <p:pic>
        <p:nvPicPr>
          <p:cNvPr id="33" name="Image 10" descr="Link">    </p:cNvPr>
          <p:cNvPicPr>
            <a:picLocks noChangeAspect="1"/>
          </p:cNvPicPr>
          <p:nvPr/>
        </p:nvPicPr>
        <p:blipFill>
          <a:blip r:embed="rId11"/>
          <a:srcRect l="0" r="0" t="0" b="0"/>
          <a:stretch/>
        </p:blipFill>
        <p:spPr>
          <a:xfrm>
            <a:off x="3639124" y="4495602"/>
            <a:ext cx="228534" cy="228534"/>
          </a:xfrm>
          <a:prstGeom prst="rect">
            <a:avLst/>
          </a:prstGeom>
        </p:spPr>
      </p:pic>
      <p:sp>
        <p:nvSpPr>
          <p:cNvPr id="34" name="Text 21"/>
          <p:cNvSpPr/>
          <p:nvPr/>
        </p:nvSpPr>
        <p:spPr>
          <a:xfrm>
            <a:off x="3943835" y="4487995"/>
            <a:ext cx="975387"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연결한다</a:t>
            </a:r>
            <a:endParaRPr lang="en-US" sz="1600" dirty="0"/>
          </a:p>
        </p:txBody>
      </p:sp>
      <p:sp>
        <p:nvSpPr>
          <p:cNvPr id="35" name="Text 22"/>
          <p:cNvSpPr/>
          <p:nvPr/>
        </p:nvSpPr>
        <p:spPr>
          <a:xfrm>
            <a:off x="3639124" y="4782455"/>
            <a:ext cx="2314156"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Azure·DevOps·Confluence를 대화 하나로</a:t>
            </a:r>
            <a:endParaRPr lang="en-US" sz="1200" dirty="0"/>
          </a:p>
        </p:txBody>
      </p:sp>
      <p:sp>
        <p:nvSpPr>
          <p:cNvPr id="36" name="Shape 23"/>
          <p:cNvSpPr/>
          <p:nvPr/>
        </p:nvSpPr>
        <p:spPr>
          <a:xfrm>
            <a:off x="6149997" y="4357115"/>
            <a:ext cx="2559116" cy="982641"/>
          </a:xfrm>
          <a:prstGeom prst="roundRect">
            <a:avLst>
              <a:gd name="adj" fmla="val 7432"/>
            </a:avLst>
          </a:prstGeom>
          <a:solidFill>
            <a:srgbClr val="FCFBF8"/>
          </a:solidFill>
          <a:ln w="6350">
            <a:solidFill>
              <a:srgbClr val="DCD8CC"/>
            </a:solidFill>
            <a:prstDash val="solid"/>
          </a:ln>
        </p:spPr>
      </p:sp>
      <p:pic>
        <p:nvPicPr>
          <p:cNvPr id="37" name="Image 11" descr="Book">    </p:cNvPr>
          <p:cNvPicPr>
            <a:picLocks noChangeAspect="1"/>
          </p:cNvPicPr>
          <p:nvPr/>
        </p:nvPicPr>
        <p:blipFill>
          <a:blip r:embed="rId12"/>
          <a:srcRect l="0" r="0" t="0" b="0"/>
          <a:stretch/>
        </p:blipFill>
        <p:spPr>
          <a:xfrm>
            <a:off x="6306234" y="4495602"/>
            <a:ext cx="228534" cy="228534"/>
          </a:xfrm>
          <a:prstGeom prst="rect">
            <a:avLst/>
          </a:prstGeom>
        </p:spPr>
      </p:pic>
      <p:sp>
        <p:nvSpPr>
          <p:cNvPr id="38" name="Text 24"/>
          <p:cNvSpPr/>
          <p:nvPr/>
        </p:nvSpPr>
        <p:spPr>
          <a:xfrm>
            <a:off x="6610945" y="4487995"/>
            <a:ext cx="1287066"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내가 고친다</a:t>
            </a:r>
            <a:endParaRPr lang="en-US" sz="1600" dirty="0"/>
          </a:p>
        </p:txBody>
      </p:sp>
      <p:sp>
        <p:nvSpPr>
          <p:cNvPr id="39" name="Text 25"/>
          <p:cNvSpPr/>
          <p:nvPr/>
        </p:nvSpPr>
        <p:spPr>
          <a:xfrm>
            <a:off x="6306234" y="4782455"/>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업무가 바뀌면 한국어 문서 한 장만 수정</a:t>
            </a:r>
            <a:endParaRPr lang="en-US" sz="1200" dirty="0"/>
          </a:p>
        </p:txBody>
      </p:sp>
      <p:sp>
        <p:nvSpPr>
          <p:cNvPr id="40" name="Shape 26"/>
          <p:cNvSpPr/>
          <p:nvPr/>
        </p:nvSpPr>
        <p:spPr>
          <a:xfrm>
            <a:off x="8816997" y="4357115"/>
            <a:ext cx="2559116" cy="982641"/>
          </a:xfrm>
          <a:prstGeom prst="roundRect">
            <a:avLst>
              <a:gd name="adj" fmla="val 7432"/>
            </a:avLst>
          </a:prstGeom>
          <a:solidFill>
            <a:srgbClr val="FCFBF8"/>
          </a:solidFill>
          <a:ln w="6350">
            <a:solidFill>
              <a:srgbClr val="DCD8CC"/>
            </a:solidFill>
            <a:prstDash val="solid"/>
          </a:ln>
        </p:spPr>
      </p:sp>
      <p:pic>
        <p:nvPicPr>
          <p:cNvPr id="41" name="Image 12" descr="Lock">    </p:cNvPr>
          <p:cNvPicPr>
            <a:picLocks noChangeAspect="1"/>
          </p:cNvPicPr>
          <p:nvPr/>
        </p:nvPicPr>
        <p:blipFill>
          <a:blip r:embed="rId13"/>
          <a:srcRect l="0" r="0" t="0" b="0"/>
          <a:stretch/>
        </p:blipFill>
        <p:spPr>
          <a:xfrm>
            <a:off x="8973234" y="4495602"/>
            <a:ext cx="228534" cy="228534"/>
          </a:xfrm>
          <a:prstGeom prst="rect">
            <a:avLst/>
          </a:prstGeom>
        </p:spPr>
      </p:pic>
      <p:sp>
        <p:nvSpPr>
          <p:cNvPr id="42" name="Text 27"/>
          <p:cNvSpPr/>
          <p:nvPr/>
        </p:nvSpPr>
        <p:spPr>
          <a:xfrm>
            <a:off x="9277946" y="4487995"/>
            <a:ext cx="975387"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통제된다</a:t>
            </a:r>
            <a:endParaRPr lang="en-US" sz="1600" dirty="0"/>
          </a:p>
        </p:txBody>
      </p:sp>
      <p:sp>
        <p:nvSpPr>
          <p:cNvPr id="43" name="Text 28"/>
          <p:cNvSpPr/>
          <p:nvPr/>
        </p:nvSpPr>
        <p:spPr>
          <a:xfrm>
            <a:off x="8973234" y="4782455"/>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중요한 순간엔 사람이 승인, 기록은 자동</a:t>
            </a:r>
            <a:endParaRPr lang="en-US" sz="1200" dirty="0"/>
          </a:p>
        </p:txBody>
      </p:sp>
      <p:sp>
        <p:nvSpPr>
          <p:cNvPr id="44" name="Text 29"/>
          <p:cNvSpPr/>
          <p:nvPr/>
        </p:nvSpPr>
        <p:spPr>
          <a:xfrm>
            <a:off x="812712" y="5520642"/>
            <a:ext cx="10566577" cy="578997"/>
          </a:xfrm>
          <a:prstGeom prst="roundRect">
            <a:avLst>
              <a:gd name="adj" fmla="val 17548"/>
            </a:avLst>
          </a:prstGeom>
          <a:solidFill>
            <a:srgbClr val="12202F"/>
          </a:solidFill>
          <a:ln/>
        </p:spPr>
        <p:txBody>
          <a:bodyPr wrap="square" lIns="224242" tIns="109898" rIns="224242" bIns="109898" rtlCol="0" anchor="ctr">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스크립트는 정해진 일만 한다. </a:t>
            </a:r>
            <a:r>
              <a:rPr lang="en-US" sz="1600" b="1" dirty="0">
                <a:solidFill>
                  <a:srgbClr val="F2A65A"/>
                </a:solidFill>
                <a:latin typeface="Arial" pitchFamily="34" charset="0"/>
                <a:ea typeface="Arial" pitchFamily="34" charset="-122"/>
                <a:cs typeface="Arial" pitchFamily="34" charset="-120"/>
              </a:rPr>
              <a:t>Copilot은 판단이 필요한 일까지, 내가 쓴 절차서대로 한다.</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5"/>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AI 동료와 협업하기</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맡기고, 판단하고, 승인한다</a:t>
            </a:r>
            <a:endParaRPr lang="en-US" sz="3000" dirty="0"/>
          </a:p>
        </p:txBody>
      </p:sp>
      <p:sp>
        <p:nvSpPr>
          <p:cNvPr id="4" name="Shape 2"/>
          <p:cNvSpPr/>
          <p:nvPr/>
        </p:nvSpPr>
        <p:spPr>
          <a:xfrm>
            <a:off x="815887" y="1517915"/>
            <a:ext cx="6328988" cy="3837274"/>
          </a:xfrm>
          <a:prstGeom prst="roundRect">
            <a:avLst>
              <a:gd name="adj" fmla="val 2565"/>
            </a:avLst>
          </a:prstGeom>
          <a:solidFill>
            <a:srgbClr val="FCFBF8"/>
          </a:solidFill>
          <a:ln w="6350">
            <a:solidFill>
              <a:srgbClr val="DCD8CC"/>
            </a:solidFill>
            <a:prstDash val="solid"/>
          </a:ln>
        </p:spPr>
      </p:sp>
      <p:sp>
        <p:nvSpPr>
          <p:cNvPr id="5" name="Text 3"/>
          <p:cNvSpPr/>
          <p:nvPr/>
        </p:nvSpPr>
        <p:spPr>
          <a:xfrm>
            <a:off x="3549364" y="1677327"/>
            <a:ext cx="3004498" cy="365941"/>
          </a:xfrm>
          <a:prstGeom prst="roundRect">
            <a:avLst>
              <a:gd name="adj" fmla="val 26896"/>
            </a:avLst>
          </a:prstGeom>
          <a:solidFill>
            <a:srgbClr val="FFF4E8"/>
          </a:solidFill>
          <a:ln w="6350">
            <a:solidFill>
              <a:srgbClr val="F2A65A"/>
            </a:solidFill>
            <a:prstDash val="solid"/>
          </a:ln>
        </p:spPr>
        <p:txBody>
          <a:bodyPr wrap="none" lIns="0" tIns="0" rIns="0" bIns="0" rtlCol="0" anchor="ctr">
            <a:normAutofit/>
          </a:bodyPr>
          <a:lstStyle/>
          <a:p>
            <a:pPr algn="ctr" indent="0" marL="0">
              <a:lnSpc>
                <a:spcPts val="1820"/>
              </a:lnSpc>
              <a:buNone/>
            </a:pPr>
            <a:r>
              <a:rPr lang="en-US" sz="1300" dirty="0">
                <a:solidFill>
                  <a:srgbClr val="12202F"/>
                </a:solidFill>
                <a:latin typeface="Arial" pitchFamily="34" charset="0"/>
                <a:ea typeface="Arial" pitchFamily="34" charset="-122"/>
                <a:cs typeface="Arial" pitchFamily="34" charset="-120"/>
              </a:rPr>
              <a:t>Teams에 변경 알림이 왔네. 확인해 줘</a:t>
            </a:r>
            <a:endParaRPr lang="en-US" sz="1300" dirty="0"/>
          </a:p>
        </p:txBody>
      </p:sp>
      <p:sp>
        <p:nvSpPr>
          <p:cNvPr id="6" name="Text 4"/>
          <p:cNvSpPr/>
          <p:nvPr/>
        </p:nvSpPr>
        <p:spPr>
          <a:xfrm>
            <a:off x="6633214" y="1715604"/>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7" name="Text 5"/>
          <p:cNvSpPr/>
          <p:nvPr/>
        </p:nvSpPr>
        <p:spPr>
          <a:xfrm>
            <a:off x="997479" y="2122621"/>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8" name="Shape 6"/>
          <p:cNvSpPr/>
          <p:nvPr/>
        </p:nvSpPr>
        <p:spPr>
          <a:xfrm>
            <a:off x="1406900" y="2125796"/>
            <a:ext cx="4203061" cy="669330"/>
          </a:xfrm>
          <a:prstGeom prst="roundRect">
            <a:avLst>
              <a:gd name="adj" fmla="val 14705"/>
            </a:avLst>
          </a:prstGeom>
          <a:solidFill>
            <a:srgbClr val="E3ECFB"/>
          </a:solidFill>
          <a:ln w="6350">
            <a:solidFill>
              <a:srgbClr val="2563C9"/>
            </a:solidFill>
            <a:prstDash val="solid"/>
          </a:ln>
        </p:spPr>
      </p:sp>
      <p:sp>
        <p:nvSpPr>
          <p:cNvPr id="9" name="Text 7"/>
          <p:cNvSpPr/>
          <p:nvPr/>
        </p:nvSpPr>
        <p:spPr>
          <a:xfrm>
            <a:off x="1537780" y="2193176"/>
            <a:ext cx="4069005"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3건 찾았어요. RDP 개방은 위험, 일감으로 등록할게요</a:t>
            </a:r>
            <a:endParaRPr lang="en-US" sz="1300" dirty="0"/>
          </a:p>
        </p:txBody>
      </p:sp>
      <p:sp>
        <p:nvSpPr>
          <p:cNvPr id="10" name="Text 8"/>
          <p:cNvSpPr/>
          <p:nvPr/>
        </p:nvSpPr>
        <p:spPr>
          <a:xfrm>
            <a:off x="1537780" y="2475068"/>
            <a:ext cx="1574403" cy="2780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C9"/>
                </a:solidFill>
                <a:latin typeface="Arial" pitchFamily="34" charset="0"/>
                <a:ea typeface="Arial" pitchFamily="34" charset="-122"/>
                <a:cs typeface="Arial" pitchFamily="34" charset="-120"/>
              </a:rPr>
              <a:t>단계 1 · /drift-check</a:t>
            </a:r>
            <a:endParaRPr lang="en-US" sz="1200" dirty="0"/>
          </a:p>
        </p:txBody>
      </p:sp>
      <p:sp>
        <p:nvSpPr>
          <p:cNvPr id="11" name="Text 9"/>
          <p:cNvSpPr/>
          <p:nvPr/>
        </p:nvSpPr>
        <p:spPr>
          <a:xfrm>
            <a:off x="4241028" y="2478243"/>
            <a:ext cx="1234877" cy="246327"/>
          </a:xfrm>
          <a:custGeom>
            <a:avLst/>
            <a:gdLst/>
            <a:ahLst/>
            <a:cxnLst/>
            <a:rect l="l" t="t" r="r" b="b"/>
            <a:pathLst>
              <a:path w="1234877" h="246327">
                <a:moveTo>
                  <a:pt x="123164" y="0"/>
                </a:moveTo>
                <a:lnTo>
                  <a:pt x="1111713" y="0"/>
                </a:lnTo>
                <a:arcTo hR="123164" wR="123164" stAng="16200000" swAng="5400000"/>
                <a:lnTo>
                  <a:pt x="1234877" y="123164"/>
                </a:lnTo>
                <a:arcTo hR="123164" wR="123164" stAng="0" swAng="5400000"/>
                <a:lnTo>
                  <a:pt x="123164" y="246327"/>
                </a:lnTo>
                <a:arcTo hR="123164" wR="123164" stAng="5400000" swAng="5400000"/>
                <a:lnTo>
                  <a:pt x="0" y="123164"/>
                </a:lnTo>
                <a:arcTo hR="123164" wR="123164"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algn="ctr" indent="0" marL="0">
              <a:lnSpc>
                <a:spcPts val="1680"/>
              </a:lnSpc>
              <a:buNone/>
            </a:pPr>
            <a:r>
              <a:rPr lang="en-US" sz="1200" b="1" dirty="0">
                <a:solidFill>
                  <a:srgbClr val="12202F"/>
                </a:solidFill>
                <a:latin typeface="Arial" pitchFamily="34" charset="0"/>
                <a:ea typeface="Arial" pitchFamily="34" charset="-122"/>
                <a:cs typeface="Arial" pitchFamily="34" charset="-120"/>
              </a:rPr>
              <a:t>승인: 일감 등록</a:t>
            </a:r>
            <a:endParaRPr lang="en-US" sz="1200" dirty="0"/>
          </a:p>
        </p:txBody>
      </p:sp>
      <p:sp>
        <p:nvSpPr>
          <p:cNvPr id="12" name="Text 10"/>
          <p:cNvSpPr/>
          <p:nvPr/>
        </p:nvSpPr>
        <p:spPr>
          <a:xfrm>
            <a:off x="2393685" y="2877654"/>
            <a:ext cx="4160176" cy="365941"/>
          </a:xfrm>
          <a:prstGeom prst="roundRect">
            <a:avLst>
              <a:gd name="adj" fmla="val 26896"/>
            </a:avLst>
          </a:prstGeom>
          <a:solidFill>
            <a:srgbClr val="FFF4E8"/>
          </a:solidFill>
          <a:ln w="6350">
            <a:solidFill>
              <a:srgbClr val="F2A65A"/>
            </a:solidFill>
            <a:prstDash val="solid"/>
          </a:ln>
        </p:spPr>
        <p:txBody>
          <a:bodyPr wrap="none" lIns="0" tIns="0" rIns="0" bIns="0" rtlCol="0" anchor="ctr">
            <a:normAutofit/>
          </a:bodyPr>
          <a:lstStyle/>
          <a:p>
            <a:pPr algn="ctr" indent="0" marL="0">
              <a:lnSpc>
                <a:spcPts val="1820"/>
              </a:lnSpc>
              <a:buNone/>
            </a:pPr>
            <a:r>
              <a:rPr lang="en-US" sz="1300" b="1" dirty="0">
                <a:solidFill>
                  <a:srgbClr val="12202F"/>
                </a:solidFill>
                <a:latin typeface="Arial" pitchFamily="34" charset="0"/>
                <a:ea typeface="Arial" pitchFamily="34" charset="-122"/>
                <a:cs typeface="Arial" pitchFamily="34" charset="-120"/>
              </a:rPr>
              <a:t>서브넷은 승인된 거야.</a:t>
            </a:r>
            <a:r>
              <a:rPr lang="en-US" sz="1300" dirty="0">
                <a:solidFill>
                  <a:srgbClr val="12202F"/>
                </a:solidFill>
                <a:latin typeface="Arial" pitchFamily="34" charset="0"/>
                <a:ea typeface="Arial" pitchFamily="34" charset="-122"/>
                <a:cs typeface="Arial" pitchFamily="34" charset="-120"/>
              </a:rPr>
              <a:t> 반영해 줘. RDP는 원복 권고만</a:t>
            </a:r>
            <a:endParaRPr lang="en-US" sz="1300" dirty="0"/>
          </a:p>
        </p:txBody>
      </p:sp>
      <p:sp>
        <p:nvSpPr>
          <p:cNvPr id="13" name="Text 11"/>
          <p:cNvSpPr/>
          <p:nvPr/>
        </p:nvSpPr>
        <p:spPr>
          <a:xfrm>
            <a:off x="6633214" y="2915929"/>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14" name="Text 12"/>
          <p:cNvSpPr/>
          <p:nvPr/>
        </p:nvSpPr>
        <p:spPr>
          <a:xfrm>
            <a:off x="997479" y="3322948"/>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15" name="Shape 13"/>
          <p:cNvSpPr/>
          <p:nvPr/>
        </p:nvSpPr>
        <p:spPr>
          <a:xfrm>
            <a:off x="1406900" y="3326123"/>
            <a:ext cx="3976511" cy="669330"/>
          </a:xfrm>
          <a:prstGeom prst="roundRect">
            <a:avLst>
              <a:gd name="adj" fmla="val 14705"/>
            </a:avLst>
          </a:prstGeom>
          <a:solidFill>
            <a:srgbClr val="E3ECFB"/>
          </a:solidFill>
          <a:ln w="6350">
            <a:solidFill>
              <a:srgbClr val="2563C9"/>
            </a:solidFill>
            <a:prstDash val="solid"/>
          </a:ln>
        </p:spPr>
      </p:sp>
      <p:sp>
        <p:nvSpPr>
          <p:cNvPr id="16" name="Text 14"/>
          <p:cNvSpPr/>
          <p:nvPr/>
        </p:nvSpPr>
        <p:spPr>
          <a:xfrm>
            <a:off x="1537780" y="3393503"/>
            <a:ext cx="384245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설계도·산출물을 고치고 변경 제안(PR)을 올렸어요</a:t>
            </a:r>
            <a:endParaRPr lang="en-US" sz="1300" dirty="0"/>
          </a:p>
        </p:txBody>
      </p:sp>
      <p:sp>
        <p:nvSpPr>
          <p:cNvPr id="17" name="Text 15"/>
          <p:cNvSpPr/>
          <p:nvPr/>
        </p:nvSpPr>
        <p:spPr>
          <a:xfrm>
            <a:off x="1537780" y="3675394"/>
            <a:ext cx="1513284" cy="2780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C9"/>
                </a:solidFill>
                <a:latin typeface="Arial" pitchFamily="34" charset="0"/>
                <a:ea typeface="Arial" pitchFamily="34" charset="-122"/>
                <a:cs typeface="Arial" pitchFamily="34" charset="-120"/>
              </a:rPr>
              <a:t>단계 2 · 요청 한 줄</a:t>
            </a:r>
            <a:endParaRPr lang="en-US" sz="1200" dirty="0"/>
          </a:p>
        </p:txBody>
      </p:sp>
      <p:sp>
        <p:nvSpPr>
          <p:cNvPr id="18" name="Text 16"/>
          <p:cNvSpPr/>
          <p:nvPr/>
        </p:nvSpPr>
        <p:spPr>
          <a:xfrm>
            <a:off x="4014479" y="3678569"/>
            <a:ext cx="1234877" cy="246327"/>
          </a:xfrm>
          <a:custGeom>
            <a:avLst/>
            <a:gdLst/>
            <a:ahLst/>
            <a:cxnLst/>
            <a:rect l="l" t="t" r="r" b="b"/>
            <a:pathLst>
              <a:path w="1234877" h="246327">
                <a:moveTo>
                  <a:pt x="123164" y="0"/>
                </a:moveTo>
                <a:lnTo>
                  <a:pt x="1111713" y="0"/>
                </a:lnTo>
                <a:arcTo hR="123164" wR="123164" stAng="16200000" swAng="5400000"/>
                <a:lnTo>
                  <a:pt x="1234877" y="123164"/>
                </a:lnTo>
                <a:arcTo hR="123164" wR="123164" stAng="0" swAng="5400000"/>
                <a:lnTo>
                  <a:pt x="123164" y="246327"/>
                </a:lnTo>
                <a:arcTo hR="123164" wR="123164" stAng="5400000" swAng="5400000"/>
                <a:lnTo>
                  <a:pt x="0" y="123164"/>
                </a:lnTo>
                <a:arcTo hR="123164" wR="123164"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algn="ctr" indent="0" marL="0">
              <a:lnSpc>
                <a:spcPts val="1680"/>
              </a:lnSpc>
              <a:buNone/>
            </a:pPr>
            <a:r>
              <a:rPr lang="en-US" sz="1200" b="1" dirty="0">
                <a:solidFill>
                  <a:srgbClr val="12202F"/>
                </a:solidFill>
                <a:latin typeface="Arial" pitchFamily="34" charset="0"/>
                <a:ea typeface="Arial" pitchFamily="34" charset="-122"/>
                <a:cs typeface="Arial" pitchFamily="34" charset="-120"/>
              </a:rPr>
              <a:t>승인: 변경 제안</a:t>
            </a:r>
            <a:endParaRPr lang="en-US" sz="1200" dirty="0"/>
          </a:p>
        </p:txBody>
      </p:sp>
      <p:sp>
        <p:nvSpPr>
          <p:cNvPr id="19" name="Text 17"/>
          <p:cNvSpPr/>
          <p:nvPr/>
        </p:nvSpPr>
        <p:spPr>
          <a:xfrm>
            <a:off x="3200996" y="4077979"/>
            <a:ext cx="3352866" cy="365941"/>
          </a:xfrm>
          <a:prstGeom prst="roundRect">
            <a:avLst>
              <a:gd name="adj" fmla="val 26896"/>
            </a:avLst>
          </a:prstGeom>
          <a:solidFill>
            <a:srgbClr val="FFF4E8"/>
          </a:solidFill>
          <a:ln w="6350">
            <a:solidFill>
              <a:srgbClr val="F2A65A"/>
            </a:solidFill>
            <a:prstDash val="solid"/>
          </a:ln>
        </p:spPr>
        <p:txBody>
          <a:bodyPr wrap="none" lIns="0" tIns="0" rIns="0" bIns="0" rtlCol="0" anchor="ctr">
            <a:normAutofit/>
          </a:bodyPr>
          <a:lstStyle/>
          <a:p>
            <a:pPr algn="ctr" indent="0" marL="0">
              <a:lnSpc>
                <a:spcPts val="1820"/>
              </a:lnSpc>
              <a:buNone/>
            </a:pPr>
            <a:r>
              <a:rPr lang="en-US" sz="1300" dirty="0">
                <a:solidFill>
                  <a:srgbClr val="12202F"/>
                </a:solidFill>
                <a:latin typeface="Arial" pitchFamily="34" charset="0"/>
                <a:ea typeface="Arial" pitchFamily="34" charset="-122"/>
                <a:cs typeface="Arial" pitchFamily="34" charset="-120"/>
              </a:rPr>
              <a:t>주간 보고 정리해서 팀·고객에게 공유해 줘</a:t>
            </a:r>
            <a:endParaRPr lang="en-US" sz="1300" dirty="0"/>
          </a:p>
        </p:txBody>
      </p:sp>
      <p:sp>
        <p:nvSpPr>
          <p:cNvPr id="20" name="Text 18"/>
          <p:cNvSpPr/>
          <p:nvPr/>
        </p:nvSpPr>
        <p:spPr>
          <a:xfrm>
            <a:off x="6633214" y="4116256"/>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21" name="Text 19"/>
          <p:cNvSpPr/>
          <p:nvPr/>
        </p:nvSpPr>
        <p:spPr>
          <a:xfrm>
            <a:off x="997479" y="4523273"/>
            <a:ext cx="330068" cy="289278"/>
          </a:xfrm>
          <a:custGeom>
            <a:avLst/>
            <a:gdLst/>
            <a:ahLst/>
            <a:cxnLst/>
            <a:rect l="l" t="t" r="r" b="b"/>
            <a:pathLst>
              <a:path w="330068" h="289278">
                <a:moveTo>
                  <a:pt x="144639" y="0"/>
                </a:moveTo>
                <a:lnTo>
                  <a:pt x="185429" y="0"/>
                </a:lnTo>
                <a:arcTo hR="144639" wR="144639" stAng="16200000" swAng="5400000"/>
                <a:lnTo>
                  <a:pt x="330068" y="144639"/>
                </a:lnTo>
                <a:arcTo hR="144639" wR="144639" stAng="0" swAng="5400000"/>
                <a:lnTo>
                  <a:pt x="144639" y="289278"/>
                </a:lnTo>
                <a:arcTo hR="144639" wR="144639" stAng="5400000" swAng="5400000"/>
                <a:lnTo>
                  <a:pt x="0" y="144639"/>
                </a:lnTo>
                <a:arcTo hR="144639" wR="144639" stAng="10800000" swAng="5400000"/>
                <a:close/>
              </a:path>
            </a:pathLst>
          </a:custGeom>
          <a:solidFill>
            <a:srgbClr val="2563C9"/>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22" name="Shape 20"/>
          <p:cNvSpPr/>
          <p:nvPr/>
        </p:nvSpPr>
        <p:spPr>
          <a:xfrm>
            <a:off x="1406900" y="4526448"/>
            <a:ext cx="4124347" cy="669330"/>
          </a:xfrm>
          <a:prstGeom prst="roundRect">
            <a:avLst>
              <a:gd name="adj" fmla="val 14705"/>
            </a:avLst>
          </a:prstGeom>
          <a:solidFill>
            <a:srgbClr val="E3ECFB"/>
          </a:solidFill>
          <a:ln w="6350">
            <a:solidFill>
              <a:srgbClr val="2563C9"/>
            </a:solidFill>
            <a:prstDash val="solid"/>
          </a:ln>
        </p:spPr>
      </p:sp>
      <p:sp>
        <p:nvSpPr>
          <p:cNvPr id="23" name="Text 21"/>
          <p:cNvSpPr/>
          <p:nvPr/>
        </p:nvSpPr>
        <p:spPr>
          <a:xfrm>
            <a:off x="1537780" y="4593830"/>
            <a:ext cx="3990292"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보고서는 Obsidian에, 문서는 Confluence에 올렸어요</a:t>
            </a:r>
            <a:endParaRPr lang="en-US" sz="1300" dirty="0"/>
          </a:p>
        </p:txBody>
      </p:sp>
      <p:sp>
        <p:nvSpPr>
          <p:cNvPr id="24" name="Text 22"/>
          <p:cNvSpPr/>
          <p:nvPr/>
        </p:nvSpPr>
        <p:spPr>
          <a:xfrm>
            <a:off x="1537780" y="4875721"/>
            <a:ext cx="1472539" cy="2780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C9"/>
                </a:solidFill>
                <a:latin typeface="Arial" pitchFamily="34" charset="0"/>
                <a:ea typeface="Arial" pitchFamily="34" charset="-122"/>
                <a:cs typeface="Arial" pitchFamily="34" charset="-120"/>
              </a:rPr>
              <a:t>단계 3 · 보고·게시</a:t>
            </a:r>
            <a:endParaRPr lang="en-US" sz="1200" dirty="0"/>
          </a:p>
        </p:txBody>
      </p:sp>
      <p:sp>
        <p:nvSpPr>
          <p:cNvPr id="25" name="Text 23"/>
          <p:cNvSpPr/>
          <p:nvPr/>
        </p:nvSpPr>
        <p:spPr>
          <a:xfrm>
            <a:off x="4162315" y="4878896"/>
            <a:ext cx="1234877" cy="246327"/>
          </a:xfrm>
          <a:custGeom>
            <a:avLst/>
            <a:gdLst/>
            <a:ahLst/>
            <a:cxnLst/>
            <a:rect l="l" t="t" r="r" b="b"/>
            <a:pathLst>
              <a:path w="1234877" h="246327">
                <a:moveTo>
                  <a:pt x="123164" y="0"/>
                </a:moveTo>
                <a:lnTo>
                  <a:pt x="1111713" y="0"/>
                </a:lnTo>
                <a:arcTo hR="123164" wR="123164" stAng="16200000" swAng="5400000"/>
                <a:lnTo>
                  <a:pt x="1234877" y="123164"/>
                </a:lnTo>
                <a:arcTo hR="123164" wR="123164" stAng="0" swAng="5400000"/>
                <a:lnTo>
                  <a:pt x="123164" y="246327"/>
                </a:lnTo>
                <a:arcTo hR="123164" wR="123164" stAng="5400000" swAng="5400000"/>
                <a:lnTo>
                  <a:pt x="0" y="123164"/>
                </a:lnTo>
                <a:arcTo hR="123164" wR="123164"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algn="ctr" indent="0" marL="0">
              <a:lnSpc>
                <a:spcPts val="1680"/>
              </a:lnSpc>
              <a:buNone/>
            </a:pPr>
            <a:r>
              <a:rPr lang="en-US" sz="1200" b="1" dirty="0">
                <a:solidFill>
                  <a:srgbClr val="12202F"/>
                </a:solidFill>
                <a:latin typeface="Arial" pitchFamily="34" charset="0"/>
                <a:ea typeface="Arial" pitchFamily="34" charset="-122"/>
                <a:cs typeface="Arial" pitchFamily="34" charset="-120"/>
              </a:rPr>
              <a:t>승인: 외부 공유</a:t>
            </a:r>
            <a:endParaRPr lang="en-US" sz="1200" dirty="0"/>
          </a:p>
        </p:txBody>
      </p:sp>
      <p:sp>
        <p:nvSpPr>
          <p:cNvPr id="26" name="Shape 24"/>
          <p:cNvSpPr/>
          <p:nvPr/>
        </p:nvSpPr>
        <p:spPr>
          <a:xfrm>
            <a:off x="7408400" y="1521090"/>
            <a:ext cx="3964539" cy="842014"/>
          </a:xfrm>
          <a:prstGeom prst="roundRect">
            <a:avLst>
              <a:gd name="adj" fmla="val 11312"/>
            </a:avLst>
          </a:prstGeom>
          <a:solidFill>
            <a:srgbClr val="FFF4E8"/>
          </a:solidFill>
          <a:ln w="12700">
            <a:solidFill>
              <a:srgbClr val="F2A65A"/>
            </a:solidFill>
            <a:prstDash val="solid"/>
          </a:ln>
        </p:spPr>
      </p:sp>
      <p:pic>
        <p:nvPicPr>
          <p:cNvPr id="27" name="Image 0" descr="Users">    </p:cNvPr>
          <p:cNvPicPr>
            <a:picLocks noChangeAspect="1"/>
          </p:cNvPicPr>
          <p:nvPr/>
        </p:nvPicPr>
        <p:blipFill>
          <a:blip r:embed="rId1"/>
          <a:srcRect l="0" r="0" t="0" b="0"/>
          <a:stretch/>
        </p:blipFill>
        <p:spPr>
          <a:xfrm>
            <a:off x="7561461" y="1674152"/>
            <a:ext cx="254000" cy="254000"/>
          </a:xfrm>
          <a:prstGeom prst="rect">
            <a:avLst/>
          </a:prstGeom>
        </p:spPr>
      </p:pic>
      <p:sp>
        <p:nvSpPr>
          <p:cNvPr id="28" name="Text 25"/>
          <p:cNvSpPr/>
          <p:nvPr/>
        </p:nvSpPr>
        <p:spPr>
          <a:xfrm>
            <a:off x="7891639" y="1679223"/>
            <a:ext cx="1449388"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나 (엔지니어)</a:t>
            </a:r>
            <a:endParaRPr lang="en-US" sz="1600" dirty="0"/>
          </a:p>
        </p:txBody>
      </p:sp>
      <p:sp>
        <p:nvSpPr>
          <p:cNvPr id="29" name="Text 26"/>
          <p:cNvSpPr/>
          <p:nvPr/>
        </p:nvSpPr>
        <p:spPr>
          <a:xfrm>
            <a:off x="7561461" y="1978864"/>
            <a:ext cx="3768168"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맡기고, 판단하고, 승인한다. 책임은 사람이 진다</a:t>
            </a:r>
            <a:endParaRPr lang="en-US" sz="1300" dirty="0"/>
          </a:p>
        </p:txBody>
      </p:sp>
      <p:sp>
        <p:nvSpPr>
          <p:cNvPr id="30" name="Shape 27"/>
          <p:cNvSpPr/>
          <p:nvPr/>
        </p:nvSpPr>
        <p:spPr>
          <a:xfrm>
            <a:off x="7408400" y="2477339"/>
            <a:ext cx="3964539" cy="1073194"/>
          </a:xfrm>
          <a:prstGeom prst="roundRect">
            <a:avLst>
              <a:gd name="adj" fmla="val 8875"/>
            </a:avLst>
          </a:prstGeom>
          <a:solidFill>
            <a:srgbClr val="E3ECFB"/>
          </a:solidFill>
          <a:ln w="12700">
            <a:solidFill>
              <a:srgbClr val="2563C9"/>
            </a:solidFill>
            <a:prstDash val="solid"/>
          </a:ln>
        </p:spPr>
      </p:sp>
      <p:pic>
        <p:nvPicPr>
          <p:cNvPr id="31" name="Image 1" descr="Lightning">    </p:cNvPr>
          <p:cNvPicPr>
            <a:picLocks noChangeAspect="1"/>
          </p:cNvPicPr>
          <p:nvPr/>
        </p:nvPicPr>
        <p:blipFill>
          <a:blip r:embed="rId2"/>
          <a:srcRect l="0" r="0" t="0" b="0"/>
          <a:stretch/>
        </p:blipFill>
        <p:spPr>
          <a:xfrm>
            <a:off x="7561461" y="2630401"/>
            <a:ext cx="254000" cy="254000"/>
          </a:xfrm>
          <a:prstGeom prst="rect">
            <a:avLst/>
          </a:prstGeom>
        </p:spPr>
      </p:pic>
      <p:sp>
        <p:nvSpPr>
          <p:cNvPr id="32" name="Text 28"/>
          <p:cNvSpPr/>
          <p:nvPr/>
        </p:nvSpPr>
        <p:spPr>
          <a:xfrm>
            <a:off x="7891639" y="2635472"/>
            <a:ext cx="186914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AI 동료 (Copilot)</a:t>
            </a:r>
            <a:endParaRPr lang="en-US" sz="1600" dirty="0"/>
          </a:p>
        </p:txBody>
      </p:sp>
      <p:sp>
        <p:nvSpPr>
          <p:cNvPr id="33" name="Text 29"/>
          <p:cNvSpPr/>
          <p:nvPr/>
        </p:nvSpPr>
        <p:spPr>
          <a:xfrm>
            <a:off x="7561461" y="2935112"/>
            <a:ext cx="3768168" cy="48775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찾고, 정리하고, 고치고, 올린다. 기록은 빠짐없이 남긴다</a:t>
            </a:r>
            <a:endParaRPr lang="en-US" sz="1300" dirty="0"/>
          </a:p>
        </p:txBody>
      </p:sp>
      <p:sp>
        <p:nvSpPr>
          <p:cNvPr id="34" name="Shape 30"/>
          <p:cNvSpPr/>
          <p:nvPr/>
        </p:nvSpPr>
        <p:spPr>
          <a:xfrm>
            <a:off x="7408400" y="3664767"/>
            <a:ext cx="3964539" cy="842014"/>
          </a:xfrm>
          <a:prstGeom prst="roundRect">
            <a:avLst>
              <a:gd name="adj" fmla="val 11312"/>
            </a:avLst>
          </a:prstGeom>
          <a:solidFill>
            <a:srgbClr val="FCFBF8"/>
          </a:solidFill>
          <a:ln w="12700">
            <a:solidFill>
              <a:srgbClr val="9AA5B1"/>
            </a:solidFill>
            <a:prstDash val="solid"/>
          </a:ln>
        </p:spPr>
      </p:sp>
      <p:pic>
        <p:nvPicPr>
          <p:cNvPr id="35" name="Image 2" descr="Book">    </p:cNvPr>
          <p:cNvPicPr>
            <a:picLocks noChangeAspect="1"/>
          </p:cNvPicPr>
          <p:nvPr/>
        </p:nvPicPr>
        <p:blipFill>
          <a:blip r:embed="rId3"/>
          <a:srcRect l="0" r="0" t="0" b="0"/>
          <a:stretch/>
        </p:blipFill>
        <p:spPr>
          <a:xfrm>
            <a:off x="7561461" y="3817827"/>
            <a:ext cx="254000" cy="254000"/>
          </a:xfrm>
          <a:prstGeom prst="rect">
            <a:avLst/>
          </a:prstGeom>
        </p:spPr>
      </p:pic>
      <p:sp>
        <p:nvSpPr>
          <p:cNvPr id="36" name="Text 31"/>
          <p:cNvSpPr/>
          <p:nvPr/>
        </p:nvSpPr>
        <p:spPr>
          <a:xfrm>
            <a:off x="7891639" y="3822900"/>
            <a:ext cx="1287066"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업무 매뉴얼</a:t>
            </a:r>
            <a:endParaRPr lang="en-US" sz="1600" dirty="0"/>
          </a:p>
        </p:txBody>
      </p:sp>
      <p:sp>
        <p:nvSpPr>
          <p:cNvPr id="37" name="Text 32"/>
          <p:cNvSpPr/>
          <p:nvPr/>
        </p:nvSpPr>
        <p:spPr>
          <a:xfrm>
            <a:off x="7561461" y="4122541"/>
            <a:ext cx="3768168"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동료에게 주는 온보딩 문서. 규칙 1장 + 절차 3장</a:t>
            </a:r>
            <a:endParaRPr lang="en-US" sz="1300" dirty="0"/>
          </a:p>
        </p:txBody>
      </p:sp>
      <p:sp>
        <p:nvSpPr>
          <p:cNvPr id="38" name="Text 33"/>
          <p:cNvSpPr/>
          <p:nvPr/>
        </p:nvSpPr>
        <p:spPr>
          <a:xfrm>
            <a:off x="812712" y="5536076"/>
            <a:ext cx="10566577" cy="578997"/>
          </a:xfrm>
          <a:prstGeom prst="roundRect">
            <a:avLst>
              <a:gd name="adj" fmla="val 17548"/>
            </a:avLst>
          </a:prstGeom>
          <a:solidFill>
            <a:srgbClr val="12202F"/>
          </a:solidFill>
          <a:ln/>
        </p:spPr>
        <p:txBody>
          <a:bodyPr wrap="square" lIns="224242" tIns="109898" rIns="224242" bIns="109898" rtlCol="0" anchor="ctr">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신입 동료에게 일을 맡기듯: </a:t>
            </a:r>
            <a:r>
              <a:rPr lang="en-US" sz="1600" b="1" dirty="0">
                <a:solidFill>
                  <a:srgbClr val="F2A65A"/>
                </a:solidFill>
                <a:latin typeface="Arial" pitchFamily="34" charset="0"/>
                <a:ea typeface="Arial" pitchFamily="34" charset="-122"/>
                <a:cs typeface="Arial" pitchFamily="34" charset="-120"/>
              </a:rPr>
              <a:t>매뉴얼을 주고, 맡기고, 확인한다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3"/>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MCP로 업무 확장</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꽂으면, 맡길 수 있는 일이 늘어난다</a:t>
            </a:r>
            <a:endParaRPr lang="en-US" sz="3000" dirty="0"/>
          </a:p>
        </p:txBody>
      </p:sp>
      <p:sp>
        <p:nvSpPr>
          <p:cNvPr id="4" name="Text 2"/>
          <p:cNvSpPr/>
          <p:nvPr/>
        </p:nvSpPr>
        <p:spPr>
          <a:xfrm>
            <a:off x="812712" y="1413205"/>
            <a:ext cx="10883574"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MCP는 업무 시스템용 멀티탭이다. 꽂으면 Copilot이 그 시스템을 쓸 수 있다</a:t>
            </a:r>
            <a:endParaRPr lang="en-US" sz="1400" dirty="0"/>
          </a:p>
        </p:txBody>
      </p:sp>
      <p:sp>
        <p:nvSpPr>
          <p:cNvPr id="5" name="Text 3"/>
          <p:cNvSpPr/>
          <p:nvPr/>
        </p:nvSpPr>
        <p:spPr>
          <a:xfrm>
            <a:off x="812712" y="1814489"/>
            <a:ext cx="400310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오늘 데모에서 연결한 것</a:t>
            </a:r>
            <a:endParaRPr lang="en-US" sz="1200" dirty="0"/>
          </a:p>
        </p:txBody>
      </p:sp>
      <p:sp>
        <p:nvSpPr>
          <p:cNvPr id="6" name="Shape 4"/>
          <p:cNvSpPr/>
          <p:nvPr/>
        </p:nvSpPr>
        <p:spPr>
          <a:xfrm>
            <a:off x="819062" y="2110228"/>
            <a:ext cx="3873809" cy="623513"/>
          </a:xfrm>
          <a:prstGeom prst="roundRect">
            <a:avLst>
              <a:gd name="adj" fmla="val 11203"/>
            </a:avLst>
          </a:prstGeom>
          <a:solidFill>
            <a:srgbClr val="E3ECFB"/>
          </a:solidFill>
          <a:ln w="12700">
            <a:solidFill>
              <a:srgbClr val="2563C9"/>
            </a:solidFill>
            <a:prstDash val="solid"/>
          </a:ln>
        </p:spPr>
      </p:sp>
      <p:sp>
        <p:nvSpPr>
          <p:cNvPr id="7" name="Text 5"/>
          <p:cNvSpPr/>
          <p:nvPr/>
        </p:nvSpPr>
        <p:spPr>
          <a:xfrm>
            <a:off x="946767" y="2187111"/>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Azure (CLI)</a:t>
            </a:r>
            <a:endParaRPr lang="en-US" sz="1300" dirty="0"/>
          </a:p>
        </p:txBody>
      </p:sp>
      <p:sp>
        <p:nvSpPr>
          <p:cNvPr id="8" name="Text 6"/>
          <p:cNvSpPr/>
          <p:nvPr/>
        </p:nvSpPr>
        <p:spPr>
          <a:xfrm>
            <a:off x="946767" y="2443648"/>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변경 이력 조회, 설계도와 대조</a:t>
            </a:r>
            <a:endParaRPr lang="en-US" sz="1200" dirty="0"/>
          </a:p>
        </p:txBody>
      </p:sp>
      <p:sp>
        <p:nvSpPr>
          <p:cNvPr id="9" name="Shape 7"/>
          <p:cNvSpPr/>
          <p:nvPr/>
        </p:nvSpPr>
        <p:spPr>
          <a:xfrm>
            <a:off x="819062" y="2822618"/>
            <a:ext cx="3873809" cy="623513"/>
          </a:xfrm>
          <a:prstGeom prst="roundRect">
            <a:avLst>
              <a:gd name="adj" fmla="val 11203"/>
            </a:avLst>
          </a:prstGeom>
          <a:solidFill>
            <a:srgbClr val="E3ECFB"/>
          </a:solidFill>
          <a:ln w="12700">
            <a:solidFill>
              <a:srgbClr val="2563C9"/>
            </a:solidFill>
            <a:prstDash val="solid"/>
          </a:ln>
        </p:spPr>
      </p:sp>
      <p:sp>
        <p:nvSpPr>
          <p:cNvPr id="10" name="Text 8"/>
          <p:cNvSpPr/>
          <p:nvPr/>
        </p:nvSpPr>
        <p:spPr>
          <a:xfrm>
            <a:off x="946767" y="2899502"/>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Azure DevOps MCP</a:t>
            </a:r>
            <a:endParaRPr lang="en-US" sz="1300" dirty="0"/>
          </a:p>
        </p:txBody>
      </p:sp>
      <p:sp>
        <p:nvSpPr>
          <p:cNvPr id="11" name="Text 9"/>
          <p:cNvSpPr/>
          <p:nvPr/>
        </p:nvSpPr>
        <p:spPr>
          <a:xfrm>
            <a:off x="946767" y="3156038"/>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일감 등록, 변경 제안(PR)</a:t>
            </a:r>
            <a:endParaRPr lang="en-US" sz="1200" dirty="0"/>
          </a:p>
        </p:txBody>
      </p:sp>
      <p:sp>
        <p:nvSpPr>
          <p:cNvPr id="12" name="Shape 10"/>
          <p:cNvSpPr/>
          <p:nvPr/>
        </p:nvSpPr>
        <p:spPr>
          <a:xfrm>
            <a:off x="819062" y="3535009"/>
            <a:ext cx="3873809" cy="623513"/>
          </a:xfrm>
          <a:prstGeom prst="roundRect">
            <a:avLst>
              <a:gd name="adj" fmla="val 11203"/>
            </a:avLst>
          </a:prstGeom>
          <a:solidFill>
            <a:srgbClr val="E3ECFB"/>
          </a:solidFill>
          <a:ln w="12700">
            <a:solidFill>
              <a:srgbClr val="2563C9"/>
            </a:solidFill>
            <a:prstDash val="solid"/>
          </a:ln>
        </p:spPr>
      </p:sp>
      <p:sp>
        <p:nvSpPr>
          <p:cNvPr id="13" name="Text 11"/>
          <p:cNvSpPr/>
          <p:nvPr/>
        </p:nvSpPr>
        <p:spPr>
          <a:xfrm>
            <a:off x="946767" y="3611893"/>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Atlassian MCP</a:t>
            </a:r>
            <a:endParaRPr lang="en-US" sz="1300" dirty="0"/>
          </a:p>
        </p:txBody>
      </p:sp>
      <p:sp>
        <p:nvSpPr>
          <p:cNvPr id="14" name="Text 12"/>
          <p:cNvSpPr/>
          <p:nvPr/>
        </p:nvSpPr>
        <p:spPr>
          <a:xfrm>
            <a:off x="946767" y="3868429"/>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Confluence 문서 게시</a:t>
            </a:r>
            <a:endParaRPr lang="en-US" sz="1200" dirty="0"/>
          </a:p>
        </p:txBody>
      </p:sp>
      <p:sp>
        <p:nvSpPr>
          <p:cNvPr id="15" name="Shape 13"/>
          <p:cNvSpPr/>
          <p:nvPr/>
        </p:nvSpPr>
        <p:spPr>
          <a:xfrm>
            <a:off x="819062" y="4247400"/>
            <a:ext cx="3873809" cy="623513"/>
          </a:xfrm>
          <a:prstGeom prst="roundRect">
            <a:avLst>
              <a:gd name="adj" fmla="val 11203"/>
            </a:avLst>
          </a:prstGeom>
          <a:solidFill>
            <a:srgbClr val="E3ECFB"/>
          </a:solidFill>
          <a:ln w="12700">
            <a:solidFill>
              <a:srgbClr val="2563C9"/>
            </a:solidFill>
            <a:prstDash val="solid"/>
          </a:ln>
        </p:spPr>
      </p:sp>
      <p:sp>
        <p:nvSpPr>
          <p:cNvPr id="16" name="Text 14"/>
          <p:cNvSpPr/>
          <p:nvPr/>
        </p:nvSpPr>
        <p:spPr>
          <a:xfrm>
            <a:off x="946767" y="4324283"/>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Microsoft Learn MCP</a:t>
            </a:r>
            <a:endParaRPr lang="en-US" sz="1300" dirty="0"/>
          </a:p>
        </p:txBody>
      </p:sp>
      <p:sp>
        <p:nvSpPr>
          <p:cNvPr id="17" name="Text 15"/>
          <p:cNvSpPr/>
          <p:nvPr/>
        </p:nvSpPr>
        <p:spPr>
          <a:xfrm>
            <a:off x="946767" y="4580820"/>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공식 문서에서 근거 찾기</a:t>
            </a:r>
            <a:endParaRPr lang="en-US" sz="1200" dirty="0"/>
          </a:p>
        </p:txBody>
      </p:sp>
      <p:pic>
        <p:nvPicPr>
          <p:cNvPr id="18" name="Image 0" descr="arrow-right">    </p:cNvPr>
          <p:cNvPicPr>
            <a:picLocks noChangeAspect="1"/>
          </p:cNvPicPr>
          <p:nvPr/>
        </p:nvPicPr>
        <p:blipFill>
          <a:blip r:embed="rId1"/>
          <a:srcRect l="0" r="0" t="0" b="0"/>
          <a:stretch/>
        </p:blipFill>
        <p:spPr>
          <a:xfrm>
            <a:off x="4800755" y="3269698"/>
            <a:ext cx="304712" cy="152356"/>
          </a:xfrm>
          <a:prstGeom prst="rect">
            <a:avLst/>
          </a:prstGeom>
        </p:spPr>
      </p:pic>
      <p:sp>
        <p:nvSpPr>
          <p:cNvPr id="19" name="Shape 16"/>
          <p:cNvSpPr/>
          <p:nvPr/>
        </p:nvSpPr>
        <p:spPr>
          <a:xfrm>
            <a:off x="5207000" y="2456876"/>
            <a:ext cx="1778000" cy="1778000"/>
          </a:xfrm>
          <a:prstGeom prst="roundRect">
            <a:avLst>
              <a:gd name="adj" fmla="val 50000"/>
            </a:avLst>
          </a:prstGeom>
          <a:solidFill>
            <a:srgbClr val="12202F"/>
          </a:solidFill>
          <a:ln/>
        </p:spPr>
      </p:sp>
      <p:pic>
        <p:nvPicPr>
          <p:cNvPr id="20" name="Image 1" descr="Link">    </p:cNvPr>
          <p:cNvPicPr>
            <a:picLocks noChangeAspect="1"/>
          </p:cNvPicPr>
          <p:nvPr/>
        </p:nvPicPr>
        <p:blipFill>
          <a:blip r:embed="rId2"/>
          <a:srcRect l="0" r="0" t="0" b="0"/>
          <a:stretch/>
        </p:blipFill>
        <p:spPr>
          <a:xfrm>
            <a:off x="5918178" y="2766989"/>
            <a:ext cx="355534" cy="355534"/>
          </a:xfrm>
          <a:prstGeom prst="rect">
            <a:avLst/>
          </a:prstGeom>
        </p:spPr>
      </p:pic>
      <p:sp>
        <p:nvSpPr>
          <p:cNvPr id="21" name="Text 17"/>
          <p:cNvSpPr/>
          <p:nvPr/>
        </p:nvSpPr>
        <p:spPr>
          <a:xfrm>
            <a:off x="5720689" y="3173236"/>
            <a:ext cx="750513" cy="512895"/>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5F4EF"/>
                </a:solidFill>
                <a:latin typeface="Arial" pitchFamily="34" charset="0"/>
                <a:ea typeface="Arial" pitchFamily="34" charset="-122"/>
                <a:cs typeface="Arial" pitchFamily="34" charset="-120"/>
              </a:rPr>
              <a:t>GitHub</a:t>
            </a:r>
            <a:endParaRPr lang="en-US" sz="1600" dirty="0"/>
          </a:p>
          <a:p>
            <a:pPr algn="ctr" indent="0" marL="0">
              <a:lnSpc>
                <a:spcPts val="1920"/>
              </a:lnSpc>
              <a:buNone/>
            </a:pPr>
            <a:r>
              <a:rPr lang="en-US" sz="1600" b="1" dirty="0">
                <a:solidFill>
                  <a:srgbClr val="F5F4EF"/>
                </a:solidFill>
                <a:latin typeface="Arial" pitchFamily="34" charset="0"/>
                <a:ea typeface="Arial" pitchFamily="34" charset="-122"/>
                <a:cs typeface="Arial" pitchFamily="34" charset="-120"/>
              </a:rPr>
              <a:t>Copilot</a:t>
            </a:r>
            <a:endParaRPr lang="en-US" sz="1600" dirty="0"/>
          </a:p>
        </p:txBody>
      </p:sp>
      <p:sp>
        <p:nvSpPr>
          <p:cNvPr id="22" name="Text 18"/>
          <p:cNvSpPr/>
          <p:nvPr/>
        </p:nvSpPr>
        <p:spPr>
          <a:xfrm>
            <a:off x="5648865" y="3711442"/>
            <a:ext cx="894159" cy="2386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3DE"/>
                </a:solidFill>
                <a:latin typeface="Arial" pitchFamily="34" charset="0"/>
                <a:ea typeface="Arial" pitchFamily="34" charset="-122"/>
                <a:cs typeface="Arial" pitchFamily="34" charset="-120"/>
              </a:rPr>
              <a:t>Agent 모드</a:t>
            </a:r>
            <a:endParaRPr lang="en-US" sz="1200" dirty="0"/>
          </a:p>
        </p:txBody>
      </p:sp>
      <p:pic>
        <p:nvPicPr>
          <p:cNvPr id="23" name="Image 2" descr="arrow-left">    </p:cNvPr>
          <p:cNvPicPr>
            <a:picLocks noChangeAspect="1"/>
          </p:cNvPicPr>
          <p:nvPr/>
        </p:nvPicPr>
        <p:blipFill>
          <a:blip r:embed="rId3"/>
          <a:srcRect l="0" r="0" t="0" b="0"/>
          <a:stretch/>
        </p:blipFill>
        <p:spPr>
          <a:xfrm>
            <a:off x="7086534" y="3269698"/>
            <a:ext cx="304712" cy="152356"/>
          </a:xfrm>
          <a:prstGeom prst="rect">
            <a:avLst/>
          </a:prstGeom>
        </p:spPr>
      </p:pic>
      <p:sp>
        <p:nvSpPr>
          <p:cNvPr id="24" name="Text 19"/>
          <p:cNvSpPr/>
          <p:nvPr/>
        </p:nvSpPr>
        <p:spPr>
          <a:xfrm>
            <a:off x="7492780" y="1814489"/>
            <a:ext cx="400310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Arial" pitchFamily="34" charset="0"/>
                <a:ea typeface="Arial" pitchFamily="34" charset="-122"/>
                <a:cs typeface="Arial" pitchFamily="34" charset="-120"/>
              </a:rPr>
              <a:t>꽂기만 하면 맡길 수 있는 것</a:t>
            </a:r>
            <a:endParaRPr lang="en-US" sz="1200" dirty="0"/>
          </a:p>
        </p:txBody>
      </p:sp>
      <p:sp>
        <p:nvSpPr>
          <p:cNvPr id="25" name="Shape 20"/>
          <p:cNvSpPr/>
          <p:nvPr/>
        </p:nvSpPr>
        <p:spPr>
          <a:xfrm>
            <a:off x="7499130" y="2110228"/>
            <a:ext cx="3873809" cy="623513"/>
          </a:xfrm>
          <a:prstGeom prst="roundRect">
            <a:avLst>
              <a:gd name="adj" fmla="val 11203"/>
            </a:avLst>
          </a:prstGeom>
          <a:solidFill>
            <a:srgbClr val="FCFBF8"/>
          </a:solidFill>
          <a:ln w="12700">
            <a:solidFill>
              <a:srgbClr val="9AA5B1"/>
            </a:solidFill>
            <a:prstDash val="dash"/>
          </a:ln>
        </p:spPr>
      </p:sp>
      <p:sp>
        <p:nvSpPr>
          <p:cNvPr id="26" name="Text 21"/>
          <p:cNvSpPr/>
          <p:nvPr/>
        </p:nvSpPr>
        <p:spPr>
          <a:xfrm>
            <a:off x="7626835" y="2187111"/>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Azure MCP Server</a:t>
            </a:r>
            <a:endParaRPr lang="en-US" sz="1300" dirty="0"/>
          </a:p>
        </p:txBody>
      </p:sp>
      <p:sp>
        <p:nvSpPr>
          <p:cNvPr id="27" name="Text 22"/>
          <p:cNvSpPr/>
          <p:nvPr/>
        </p:nvSpPr>
        <p:spPr>
          <a:xfrm>
            <a:off x="7626835" y="2443648"/>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보안·규정 준수 점검 보고서</a:t>
            </a:r>
            <a:endParaRPr lang="en-US" sz="1200" dirty="0"/>
          </a:p>
        </p:txBody>
      </p:sp>
      <p:sp>
        <p:nvSpPr>
          <p:cNvPr id="28" name="Shape 23"/>
          <p:cNvSpPr/>
          <p:nvPr/>
        </p:nvSpPr>
        <p:spPr>
          <a:xfrm>
            <a:off x="7499130" y="2822618"/>
            <a:ext cx="3873809" cy="623513"/>
          </a:xfrm>
          <a:prstGeom prst="roundRect">
            <a:avLst>
              <a:gd name="adj" fmla="val 11203"/>
            </a:avLst>
          </a:prstGeom>
          <a:solidFill>
            <a:srgbClr val="FCFBF8"/>
          </a:solidFill>
          <a:ln w="12700">
            <a:solidFill>
              <a:srgbClr val="9AA5B1"/>
            </a:solidFill>
            <a:prstDash val="dash"/>
          </a:ln>
        </p:spPr>
      </p:sp>
      <p:sp>
        <p:nvSpPr>
          <p:cNvPr id="29" name="Text 24"/>
          <p:cNvSpPr/>
          <p:nvPr/>
        </p:nvSpPr>
        <p:spPr>
          <a:xfrm>
            <a:off x="7626835" y="2899502"/>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Jira (Atlassian MCP)</a:t>
            </a:r>
            <a:endParaRPr lang="en-US" sz="1300" dirty="0"/>
          </a:p>
        </p:txBody>
      </p:sp>
      <p:sp>
        <p:nvSpPr>
          <p:cNvPr id="30" name="Text 25"/>
          <p:cNvSpPr/>
          <p:nvPr/>
        </p:nvSpPr>
        <p:spPr>
          <a:xfrm>
            <a:off x="7626835" y="3156038"/>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고객 요청 티켓 처리</a:t>
            </a:r>
            <a:endParaRPr lang="en-US" sz="1200" dirty="0"/>
          </a:p>
        </p:txBody>
      </p:sp>
      <p:sp>
        <p:nvSpPr>
          <p:cNvPr id="31" name="Shape 26"/>
          <p:cNvSpPr/>
          <p:nvPr/>
        </p:nvSpPr>
        <p:spPr>
          <a:xfrm>
            <a:off x="7499130" y="3535009"/>
            <a:ext cx="3873809" cy="623513"/>
          </a:xfrm>
          <a:prstGeom prst="roundRect">
            <a:avLst>
              <a:gd name="adj" fmla="val 11203"/>
            </a:avLst>
          </a:prstGeom>
          <a:solidFill>
            <a:srgbClr val="FCFBF8"/>
          </a:solidFill>
          <a:ln w="12700">
            <a:solidFill>
              <a:srgbClr val="9AA5B1"/>
            </a:solidFill>
            <a:prstDash val="dash"/>
          </a:ln>
        </p:spPr>
      </p:sp>
      <p:sp>
        <p:nvSpPr>
          <p:cNvPr id="32" name="Text 27"/>
          <p:cNvSpPr/>
          <p:nvPr/>
        </p:nvSpPr>
        <p:spPr>
          <a:xfrm>
            <a:off x="7626835" y="3611893"/>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GitHub MCP</a:t>
            </a:r>
            <a:endParaRPr lang="en-US" sz="1300" dirty="0"/>
          </a:p>
        </p:txBody>
      </p:sp>
      <p:sp>
        <p:nvSpPr>
          <p:cNvPr id="33" name="Text 28"/>
          <p:cNvSpPr/>
          <p:nvPr/>
        </p:nvSpPr>
        <p:spPr>
          <a:xfrm>
            <a:off x="7626835" y="3868429"/>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레포·이슈 관리</a:t>
            </a:r>
            <a:endParaRPr lang="en-US" sz="1200" dirty="0"/>
          </a:p>
        </p:txBody>
      </p:sp>
      <p:sp>
        <p:nvSpPr>
          <p:cNvPr id="34" name="Shape 29"/>
          <p:cNvSpPr/>
          <p:nvPr/>
        </p:nvSpPr>
        <p:spPr>
          <a:xfrm>
            <a:off x="7499130" y="4247400"/>
            <a:ext cx="3873809" cy="623513"/>
          </a:xfrm>
          <a:prstGeom prst="roundRect">
            <a:avLst>
              <a:gd name="adj" fmla="val 11203"/>
            </a:avLst>
          </a:prstGeom>
          <a:solidFill>
            <a:srgbClr val="FCFBF8"/>
          </a:solidFill>
          <a:ln w="12700">
            <a:solidFill>
              <a:srgbClr val="9AA5B1"/>
            </a:solidFill>
            <a:prstDash val="dash"/>
          </a:ln>
        </p:spPr>
      </p:sp>
      <p:sp>
        <p:nvSpPr>
          <p:cNvPr id="35" name="Text 30"/>
          <p:cNvSpPr/>
          <p:nvPr/>
        </p:nvSpPr>
        <p:spPr>
          <a:xfrm>
            <a:off x="7626835" y="4324283"/>
            <a:ext cx="372695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사내 시스템</a:t>
            </a:r>
            <a:endParaRPr lang="en-US" sz="1300" dirty="0"/>
          </a:p>
        </p:txBody>
      </p:sp>
      <p:sp>
        <p:nvSpPr>
          <p:cNvPr id="36" name="Text 31"/>
          <p:cNvSpPr/>
          <p:nvPr/>
        </p:nvSpPr>
        <p:spPr>
          <a:xfrm>
            <a:off x="7626835" y="4580820"/>
            <a:ext cx="37269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MCP 서버를 만들어 연결</a:t>
            </a:r>
            <a:endParaRPr lang="en-US" sz="1200" dirty="0"/>
          </a:p>
        </p:txBody>
      </p:sp>
      <p:sp>
        <p:nvSpPr>
          <p:cNvPr id="37" name="Shape 32"/>
          <p:cNvSpPr/>
          <p:nvPr/>
        </p:nvSpPr>
        <p:spPr>
          <a:xfrm>
            <a:off x="812712" y="5029619"/>
            <a:ext cx="10566577" cy="731132"/>
          </a:xfrm>
          <a:prstGeom prst="roundRect">
            <a:avLst>
              <a:gd name="adj" fmla="val 13896"/>
            </a:avLst>
          </a:prstGeom>
          <a:solidFill>
            <a:srgbClr val="12202F"/>
          </a:solidFill>
          <a:ln/>
        </p:spPr>
      </p:sp>
      <p:sp>
        <p:nvSpPr>
          <p:cNvPr id="38" name="Text 33"/>
          <p:cNvSpPr/>
          <p:nvPr/>
        </p:nvSpPr>
        <p:spPr>
          <a:xfrm>
            <a:off x="1066712" y="5258042"/>
            <a:ext cx="4159780" cy="299685"/>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연결 1개 + 절차서 1장 = </a:t>
            </a:r>
            <a:r>
              <a:rPr lang="en-US" sz="1600" b="1" dirty="0">
                <a:solidFill>
                  <a:srgbClr val="F2A65A"/>
                </a:solidFill>
                <a:latin typeface="Arial" pitchFamily="34" charset="0"/>
                <a:ea typeface="Arial" pitchFamily="34" charset="-122"/>
                <a:cs typeface="Arial" pitchFamily="34" charset="-120"/>
              </a:rPr>
              <a:t>맡길 업무 1개</a:t>
            </a:r>
            <a:endParaRPr lang="en-US" sz="1600" dirty="0"/>
          </a:p>
        </p:txBody>
      </p:sp>
      <p:sp>
        <p:nvSpPr>
          <p:cNvPr id="39" name="Text 34"/>
          <p:cNvSpPr/>
          <p:nvPr/>
        </p:nvSpPr>
        <p:spPr>
          <a:xfrm>
            <a:off x="8780020" y="5181975"/>
            <a:ext cx="2345269" cy="4518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라이브: 단계 2 직후</a:t>
            </a:r>
            <a:endParaRPr lang="en-US" sz="1200" dirty="0"/>
          </a:p>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Microsoft Learn MCP로 근거 찾기</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5"/>
            <a:ext cx="10883574" cy="237618"/>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2563C9"/>
                </a:solidFill>
                <a:latin typeface="Arial" pitchFamily="34" charset="0"/>
                <a:ea typeface="Arial" pitchFamily="34" charset="-122"/>
                <a:cs typeface="Arial" pitchFamily="34" charset="-120"/>
              </a:rPr>
              <a:t>오늘의 핵심 포인트</a:t>
            </a:r>
            <a:endParaRPr lang="en-US" sz="1196" dirty="0"/>
          </a:p>
        </p:txBody>
      </p:sp>
      <p:sp>
        <p:nvSpPr>
          <p:cNvPr id="3" name="Text 1"/>
          <p:cNvSpPr/>
          <p:nvPr>
            <p:ph type="title"/>
          </p:nvPr>
        </p:nvSpPr>
        <p:spPr>
          <a:xfrm>
            <a:off x="812712" y="897930"/>
            <a:ext cx="10883574" cy="46141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에이전트를 새로 짓기 전에, 절차부터 맡겨라</a:t>
            </a:r>
            <a:endParaRPr lang="en-US" sz="3000" dirty="0"/>
          </a:p>
        </p:txBody>
      </p:sp>
      <p:sp>
        <p:nvSpPr>
          <p:cNvPr id="4" name="Text 2"/>
          <p:cNvSpPr/>
          <p:nvPr/>
        </p:nvSpPr>
        <p:spPr>
          <a:xfrm>
            <a:off x="812712" y="1511653"/>
            <a:ext cx="3975255" cy="355975"/>
          </a:xfrm>
          <a:prstGeom prst="roundRect">
            <a:avLst>
              <a:gd name="adj" fmla="val 17838"/>
            </a:avLst>
          </a:prstGeom>
          <a:solidFill>
            <a:srgbClr val="E7E4DB"/>
          </a:solidFill>
          <a:ln/>
        </p:spPr>
        <p:txBody>
          <a:bodyPr wrap="square" lIns="108401" tIns="44901" rIns="0" bIns="19501" rtlCol="0" anchor="t">
            <a:normAutofit/>
          </a:bodyPr>
          <a:lstStyle/>
          <a:p>
            <a:pPr algn="l" indent="0" marL="0">
              <a:lnSpc>
                <a:spcPts val="1820"/>
              </a:lnSpc>
              <a:buNone/>
            </a:pPr>
            <a:r>
              <a:rPr lang="en-US" sz="1300" b="1" dirty="0">
                <a:solidFill>
                  <a:srgbClr val="4A5568"/>
                </a:solidFill>
                <a:latin typeface="Arial" pitchFamily="34" charset="0"/>
                <a:ea typeface="Arial" pitchFamily="34" charset="-122"/>
                <a:cs typeface="Arial" pitchFamily="34" charset="-120"/>
              </a:rPr>
              <a:t>새로 짓는다: 자율형 에이전트</a:t>
            </a:r>
            <a:endParaRPr lang="en-US" sz="1300" dirty="0"/>
          </a:p>
        </p:txBody>
      </p:sp>
      <p:sp>
        <p:nvSpPr>
          <p:cNvPr id="5" name="Text 3"/>
          <p:cNvSpPr/>
          <p:nvPr/>
        </p:nvSpPr>
        <p:spPr>
          <a:xfrm>
            <a:off x="4889500" y="1511653"/>
            <a:ext cx="3975255" cy="355975"/>
          </a:xfrm>
          <a:prstGeom prst="roundRect">
            <a:avLst>
              <a:gd name="adj" fmla="val 17838"/>
            </a:avLst>
          </a:prstGeom>
          <a:solidFill>
            <a:srgbClr val="2563C9"/>
          </a:solidFill>
          <a:ln/>
        </p:spPr>
        <p:txBody>
          <a:bodyPr wrap="square" lIns="108401" tIns="44901" rIns="0" bIns="19501" rtlCol="0" anchor="t">
            <a:normAutofit/>
          </a:bodyPr>
          <a:lstStyle/>
          <a:p>
            <a:pPr algn="l" indent="0" marL="0">
              <a:lnSpc>
                <a:spcPts val="1820"/>
              </a:lnSpc>
              <a:buNone/>
            </a:pPr>
            <a:r>
              <a:rPr lang="en-US" sz="1300" b="1" dirty="0">
                <a:solidFill>
                  <a:srgbClr val="FCFBF8"/>
                </a:solidFill>
                <a:latin typeface="Arial" pitchFamily="34" charset="0"/>
                <a:ea typeface="Arial" pitchFamily="34" charset="-122"/>
                <a:cs typeface="Arial" pitchFamily="34" charset="-120"/>
              </a:rPr>
              <a:t>맡긴다: 오늘의 방식</a:t>
            </a:r>
            <a:endParaRPr lang="en-US" sz="1300" dirty="0"/>
          </a:p>
        </p:txBody>
      </p:sp>
      <p:sp>
        <p:nvSpPr>
          <p:cNvPr id="6" name="Text 4"/>
          <p:cNvSpPr/>
          <p:nvPr/>
        </p:nvSpPr>
        <p:spPr>
          <a:xfrm>
            <a:off x="8966288" y="1511653"/>
            <a:ext cx="2413000" cy="355975"/>
          </a:xfrm>
          <a:prstGeom prst="roundRect">
            <a:avLst>
              <a:gd name="adj" fmla="val 17838"/>
            </a:avLst>
          </a:prstGeom>
          <a:solidFill>
            <a:srgbClr val="12202F"/>
          </a:solidFill>
          <a:ln/>
        </p:spPr>
        <p:txBody>
          <a:bodyPr wrap="square" lIns="108401" tIns="44901" rIns="43631" bIns="19501" rtlCol="0" anchor="t">
            <a:normAutofit/>
          </a:bodyPr>
          <a:lstStyle/>
          <a:p>
            <a:pPr algn="l" indent="0" marL="0">
              <a:lnSpc>
                <a:spcPts val="1820"/>
              </a:lnSpc>
              <a:buNone/>
            </a:pPr>
            <a:r>
              <a:rPr lang="en-US" sz="1300" b="1" dirty="0">
                <a:solidFill>
                  <a:srgbClr val="FCFBF8"/>
                </a:solidFill>
                <a:latin typeface="Arial" pitchFamily="34" charset="0"/>
                <a:ea typeface="Arial" pitchFamily="34" charset="-122"/>
                <a:cs typeface="Arial" pitchFamily="34" charset="-120"/>
              </a:rPr>
              <a:t>사용 기술·기능</a:t>
            </a:r>
            <a:endParaRPr lang="en-US" sz="1300" dirty="0"/>
          </a:p>
        </p:txBody>
      </p:sp>
      <p:sp>
        <p:nvSpPr>
          <p:cNvPr id="7" name="Shape 5"/>
          <p:cNvSpPr/>
          <p:nvPr/>
        </p:nvSpPr>
        <p:spPr>
          <a:xfrm>
            <a:off x="812712" y="2447420"/>
            <a:ext cx="10566577" cy="0"/>
          </a:xfrm>
          <a:prstGeom prst="line">
            <a:avLst/>
          </a:prstGeom>
          <a:noFill/>
          <a:ln w="6350">
            <a:solidFill>
              <a:srgbClr val="DCD8CC"/>
            </a:solidFill>
            <a:prstDash val="solid"/>
          </a:ln>
        </p:spPr>
      </p:sp>
      <p:sp>
        <p:nvSpPr>
          <p:cNvPr id="8" name="Text 6"/>
          <p:cNvSpPr/>
          <p:nvPr/>
        </p:nvSpPr>
        <p:spPr>
          <a:xfrm>
            <a:off x="812712" y="2065294"/>
            <a:ext cx="106680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만드는 법</a:t>
            </a:r>
            <a:endParaRPr lang="en-US" sz="1300" dirty="0"/>
          </a:p>
        </p:txBody>
      </p:sp>
      <p:sp>
        <p:nvSpPr>
          <p:cNvPr id="9" name="Text 7"/>
          <p:cNvSpPr/>
          <p:nvPr/>
        </p:nvSpPr>
        <p:spPr>
          <a:xfrm>
            <a:off x="2057246" y="2065294"/>
            <a:ext cx="325730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별도 플랫폼에서 개발·배포</a:t>
            </a:r>
            <a:endParaRPr lang="en-US" sz="1300" dirty="0"/>
          </a:p>
        </p:txBody>
      </p:sp>
      <p:sp>
        <p:nvSpPr>
          <p:cNvPr id="10" name="Text 8"/>
          <p:cNvSpPr/>
          <p:nvPr/>
        </p:nvSpPr>
        <p:spPr>
          <a:xfrm>
            <a:off x="5575212" y="2065294"/>
            <a:ext cx="3257419"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VS Code에 업무 문서 몇 장 추가</a:t>
            </a:r>
            <a:endParaRPr lang="en-US" sz="1300" dirty="0"/>
          </a:p>
        </p:txBody>
      </p:sp>
      <p:sp>
        <p:nvSpPr>
          <p:cNvPr id="11" name="Text 9"/>
          <p:cNvSpPr/>
          <p:nvPr/>
        </p:nvSpPr>
        <p:spPr>
          <a:xfrm>
            <a:off x="9093288" y="1967731"/>
            <a:ext cx="2223770" cy="4518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Courier New" pitchFamily="49" charset="0"/>
                <a:ea typeface="Courier New" pitchFamily="49" charset="-122"/>
                <a:cs typeface="Courier New" pitchFamily="49" charset="-120"/>
              </a:rPr>
              <a:t>Instructions · Agent Skills</a:t>
            </a:r>
            <a:endParaRPr lang="en-US" sz="1200" dirty="0"/>
          </a:p>
        </p:txBody>
      </p:sp>
      <p:sp>
        <p:nvSpPr>
          <p:cNvPr id="12" name="Shape 10"/>
          <p:cNvSpPr/>
          <p:nvPr/>
        </p:nvSpPr>
        <p:spPr>
          <a:xfrm>
            <a:off x="812712" y="2836355"/>
            <a:ext cx="10566577" cy="0"/>
          </a:xfrm>
          <a:prstGeom prst="line">
            <a:avLst/>
          </a:prstGeom>
          <a:noFill/>
          <a:ln w="6350">
            <a:solidFill>
              <a:srgbClr val="DCD8CC"/>
            </a:solidFill>
            <a:prstDash val="solid"/>
          </a:ln>
        </p:spPr>
      </p:sp>
      <p:sp>
        <p:nvSpPr>
          <p:cNvPr id="13" name="Text 11"/>
          <p:cNvSpPr/>
          <p:nvPr/>
        </p:nvSpPr>
        <p:spPr>
          <a:xfrm>
            <a:off x="812712" y="2551357"/>
            <a:ext cx="106680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실행</a:t>
            </a:r>
            <a:endParaRPr lang="en-US" sz="1300" dirty="0"/>
          </a:p>
        </p:txBody>
      </p:sp>
      <p:sp>
        <p:nvSpPr>
          <p:cNvPr id="14" name="Text 12"/>
          <p:cNvSpPr/>
          <p:nvPr/>
        </p:nvSpPr>
        <p:spPr>
          <a:xfrm>
            <a:off x="2057246" y="2551357"/>
            <a:ext cx="325730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상시 실행, 스스로 계획을 고친다</a:t>
            </a:r>
            <a:endParaRPr lang="en-US" sz="1300" dirty="0"/>
          </a:p>
        </p:txBody>
      </p:sp>
      <p:sp>
        <p:nvSpPr>
          <p:cNvPr id="15" name="Text 13"/>
          <p:cNvSpPr/>
          <p:nvPr/>
        </p:nvSpPr>
        <p:spPr>
          <a:xfrm>
            <a:off x="5575212" y="2551357"/>
            <a:ext cx="3257419"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요청할 때만, 절차서대로</a:t>
            </a:r>
            <a:endParaRPr lang="en-US" sz="1300" dirty="0"/>
          </a:p>
        </p:txBody>
      </p:sp>
      <p:sp>
        <p:nvSpPr>
          <p:cNvPr id="16" name="Text 14"/>
          <p:cNvSpPr/>
          <p:nvPr/>
        </p:nvSpPr>
        <p:spPr>
          <a:xfrm>
            <a:off x="9093288" y="2560287"/>
            <a:ext cx="2223770"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Courier New" pitchFamily="49" charset="0"/>
                <a:ea typeface="Courier New" pitchFamily="49" charset="-122"/>
                <a:cs typeface="Courier New" pitchFamily="49" charset="-120"/>
              </a:rPr>
              <a:t>Agent 모드 · /슬래시 명령</a:t>
            </a:r>
            <a:endParaRPr lang="en-US" sz="1200" dirty="0"/>
          </a:p>
        </p:txBody>
      </p:sp>
      <p:sp>
        <p:nvSpPr>
          <p:cNvPr id="17" name="Shape 15"/>
          <p:cNvSpPr/>
          <p:nvPr/>
        </p:nvSpPr>
        <p:spPr>
          <a:xfrm>
            <a:off x="812712" y="3225293"/>
            <a:ext cx="10566577" cy="0"/>
          </a:xfrm>
          <a:prstGeom prst="line">
            <a:avLst/>
          </a:prstGeom>
          <a:noFill/>
          <a:ln w="6350">
            <a:solidFill>
              <a:srgbClr val="DCD8CC"/>
            </a:solidFill>
            <a:prstDash val="solid"/>
          </a:ln>
        </p:spPr>
      </p:sp>
      <p:sp>
        <p:nvSpPr>
          <p:cNvPr id="18" name="Text 16"/>
          <p:cNvSpPr/>
          <p:nvPr/>
        </p:nvSpPr>
        <p:spPr>
          <a:xfrm>
            <a:off x="812712" y="2940295"/>
            <a:ext cx="106680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권한</a:t>
            </a:r>
            <a:endParaRPr lang="en-US" sz="1300" dirty="0"/>
          </a:p>
        </p:txBody>
      </p:sp>
      <p:sp>
        <p:nvSpPr>
          <p:cNvPr id="19" name="Text 17"/>
          <p:cNvSpPr/>
          <p:nvPr/>
        </p:nvSpPr>
        <p:spPr>
          <a:xfrm>
            <a:off x="2057246" y="2940295"/>
            <a:ext cx="325730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전용 계정·비밀값을 새로 발급</a:t>
            </a:r>
            <a:endParaRPr lang="en-US" sz="1300" dirty="0"/>
          </a:p>
        </p:txBody>
      </p:sp>
      <p:sp>
        <p:nvSpPr>
          <p:cNvPr id="20" name="Text 18"/>
          <p:cNvSpPr/>
          <p:nvPr/>
        </p:nvSpPr>
        <p:spPr>
          <a:xfrm>
            <a:off x="5575212" y="2940295"/>
            <a:ext cx="3257419"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내 계정·기존 권한 그대로</a:t>
            </a:r>
            <a:endParaRPr lang="en-US" sz="1300" dirty="0"/>
          </a:p>
        </p:txBody>
      </p:sp>
      <p:sp>
        <p:nvSpPr>
          <p:cNvPr id="21" name="Text 19"/>
          <p:cNvSpPr/>
          <p:nvPr/>
        </p:nvSpPr>
        <p:spPr>
          <a:xfrm>
            <a:off x="9093288" y="2949225"/>
            <a:ext cx="2223770"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Courier New" pitchFamily="49" charset="0"/>
                <a:ea typeface="Courier New" pitchFamily="49" charset="-122"/>
                <a:cs typeface="Courier New" pitchFamily="49" charset="-120"/>
              </a:rPr>
              <a:t>MCP 서버 · Azure CLI</a:t>
            </a:r>
            <a:endParaRPr lang="en-US" sz="1200" dirty="0"/>
          </a:p>
        </p:txBody>
      </p:sp>
      <p:sp>
        <p:nvSpPr>
          <p:cNvPr id="22" name="Shape 20"/>
          <p:cNvSpPr/>
          <p:nvPr/>
        </p:nvSpPr>
        <p:spPr>
          <a:xfrm>
            <a:off x="812712" y="3614230"/>
            <a:ext cx="10566577" cy="0"/>
          </a:xfrm>
          <a:prstGeom prst="line">
            <a:avLst/>
          </a:prstGeom>
          <a:noFill/>
          <a:ln w="6350">
            <a:solidFill>
              <a:srgbClr val="DCD8CC"/>
            </a:solidFill>
            <a:prstDash val="solid"/>
          </a:ln>
        </p:spPr>
      </p:sp>
      <p:sp>
        <p:nvSpPr>
          <p:cNvPr id="23" name="Text 21"/>
          <p:cNvSpPr/>
          <p:nvPr/>
        </p:nvSpPr>
        <p:spPr>
          <a:xfrm>
            <a:off x="812712" y="3329232"/>
            <a:ext cx="106680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통제</a:t>
            </a:r>
            <a:endParaRPr lang="en-US" sz="1300" dirty="0"/>
          </a:p>
        </p:txBody>
      </p:sp>
      <p:sp>
        <p:nvSpPr>
          <p:cNvPr id="24" name="Text 22"/>
          <p:cNvSpPr/>
          <p:nvPr/>
        </p:nvSpPr>
        <p:spPr>
          <a:xfrm>
            <a:off x="2057246" y="3329232"/>
            <a:ext cx="325730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안전장치를 따로 설계</a:t>
            </a:r>
            <a:endParaRPr lang="en-US" sz="1300" dirty="0"/>
          </a:p>
        </p:txBody>
      </p:sp>
      <p:sp>
        <p:nvSpPr>
          <p:cNvPr id="25" name="Text 23"/>
          <p:cNvSpPr/>
          <p:nvPr/>
        </p:nvSpPr>
        <p:spPr>
          <a:xfrm>
            <a:off x="5575212" y="3329232"/>
            <a:ext cx="3257419"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사람이 판단하고, 중요한 순간 승인</a:t>
            </a:r>
            <a:endParaRPr lang="en-US" sz="1300" dirty="0"/>
          </a:p>
        </p:txBody>
      </p:sp>
      <p:sp>
        <p:nvSpPr>
          <p:cNvPr id="26" name="Text 24"/>
          <p:cNvSpPr/>
          <p:nvPr/>
        </p:nvSpPr>
        <p:spPr>
          <a:xfrm>
            <a:off x="9093288" y="3338162"/>
            <a:ext cx="2223770"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Courier New" pitchFamily="49" charset="0"/>
                <a:ea typeface="Courier New" pitchFamily="49" charset="-122"/>
                <a:cs typeface="Courier New" pitchFamily="49" charset="-120"/>
              </a:rPr>
              <a:t>도구 승인 · 자동 승인 규칙</a:t>
            </a:r>
            <a:endParaRPr lang="en-US" sz="1200" dirty="0"/>
          </a:p>
        </p:txBody>
      </p:sp>
      <p:sp>
        <p:nvSpPr>
          <p:cNvPr id="27" name="Shape 25"/>
          <p:cNvSpPr/>
          <p:nvPr/>
        </p:nvSpPr>
        <p:spPr>
          <a:xfrm>
            <a:off x="812712" y="4003168"/>
            <a:ext cx="10566577" cy="0"/>
          </a:xfrm>
          <a:prstGeom prst="line">
            <a:avLst/>
          </a:prstGeom>
          <a:noFill/>
          <a:ln w="6350">
            <a:solidFill>
              <a:srgbClr val="DCD8CC"/>
            </a:solidFill>
            <a:prstDash val="solid"/>
          </a:ln>
        </p:spPr>
      </p:sp>
      <p:sp>
        <p:nvSpPr>
          <p:cNvPr id="28" name="Text 26"/>
          <p:cNvSpPr/>
          <p:nvPr/>
        </p:nvSpPr>
        <p:spPr>
          <a:xfrm>
            <a:off x="812712" y="3718170"/>
            <a:ext cx="1066800"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운영</a:t>
            </a:r>
            <a:endParaRPr lang="en-US" sz="1300" dirty="0"/>
          </a:p>
        </p:txBody>
      </p:sp>
      <p:sp>
        <p:nvSpPr>
          <p:cNvPr id="29" name="Text 27"/>
          <p:cNvSpPr/>
          <p:nvPr/>
        </p:nvSpPr>
        <p:spPr>
          <a:xfrm>
            <a:off x="2057246" y="3718170"/>
            <a:ext cx="325730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호스팅·모니터링·장애 대응</a:t>
            </a:r>
            <a:endParaRPr lang="en-US" sz="1300" dirty="0"/>
          </a:p>
        </p:txBody>
      </p:sp>
      <p:sp>
        <p:nvSpPr>
          <p:cNvPr id="30" name="Text 28"/>
          <p:cNvSpPr/>
          <p:nvPr/>
        </p:nvSpPr>
        <p:spPr>
          <a:xfrm>
            <a:off x="5575212" y="3718170"/>
            <a:ext cx="3257419"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02F"/>
                </a:solidFill>
                <a:latin typeface="Arial" pitchFamily="34" charset="0"/>
                <a:ea typeface="Arial" pitchFamily="34" charset="-122"/>
                <a:cs typeface="Arial" pitchFamily="34" charset="-120"/>
              </a:rPr>
              <a:t>추가로 운영할 것이 없다</a:t>
            </a:r>
            <a:endParaRPr lang="en-US" sz="1300" dirty="0"/>
          </a:p>
        </p:txBody>
      </p:sp>
      <p:sp>
        <p:nvSpPr>
          <p:cNvPr id="31" name="Text 29"/>
          <p:cNvSpPr/>
          <p:nvPr/>
        </p:nvSpPr>
        <p:spPr>
          <a:xfrm>
            <a:off x="9093288" y="3727100"/>
            <a:ext cx="2223770"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FA3"/>
                </a:solidFill>
                <a:latin typeface="Courier New" pitchFamily="49" charset="0"/>
                <a:ea typeface="Courier New" pitchFamily="49" charset="-122"/>
                <a:cs typeface="Courier New" pitchFamily="49" charset="-120"/>
              </a:rPr>
              <a:t>GitHub Copilot 라이선스</a:t>
            </a:r>
            <a:endParaRPr lang="en-US" sz="1200" dirty="0"/>
          </a:p>
        </p:txBody>
      </p:sp>
      <p:sp>
        <p:nvSpPr>
          <p:cNvPr id="32" name="Text 30"/>
          <p:cNvSpPr/>
          <p:nvPr/>
        </p:nvSpPr>
        <p:spPr>
          <a:xfrm>
            <a:off x="812712" y="4184055"/>
            <a:ext cx="10883574" cy="237618"/>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2202F"/>
                </a:solidFill>
                <a:latin typeface="Arial" pitchFamily="34" charset="0"/>
                <a:ea typeface="Arial" pitchFamily="34" charset="-122"/>
                <a:cs typeface="Arial" pitchFamily="34" charset="-120"/>
              </a:rPr>
              <a:t>그래서 얻는 것</a:t>
            </a:r>
            <a:endParaRPr lang="en-US" sz="1196" dirty="0"/>
          </a:p>
        </p:txBody>
      </p:sp>
      <p:sp>
        <p:nvSpPr>
          <p:cNvPr id="33" name="Shape 31"/>
          <p:cNvSpPr/>
          <p:nvPr/>
        </p:nvSpPr>
        <p:spPr>
          <a:xfrm>
            <a:off x="815887" y="4475628"/>
            <a:ext cx="3448116" cy="1014060"/>
          </a:xfrm>
          <a:prstGeom prst="roundRect">
            <a:avLst>
              <a:gd name="adj" fmla="val 7201"/>
            </a:avLst>
          </a:prstGeom>
          <a:solidFill>
            <a:srgbClr val="FCFBF8"/>
          </a:solidFill>
          <a:ln w="6350">
            <a:solidFill>
              <a:srgbClr val="DCD8CC"/>
            </a:solidFill>
            <a:prstDash val="solid"/>
          </a:ln>
        </p:spPr>
      </p:sp>
      <p:pic>
        <p:nvPicPr>
          <p:cNvPr id="34" name="Image 0" descr="Chart">    </p:cNvPr>
          <p:cNvPicPr>
            <a:picLocks noChangeAspect="1"/>
          </p:cNvPicPr>
          <p:nvPr/>
        </p:nvPicPr>
        <p:blipFill>
          <a:blip r:embed="rId1"/>
          <a:srcRect l="0" r="0" t="0" b="0"/>
          <a:stretch/>
        </p:blipFill>
        <p:spPr>
          <a:xfrm>
            <a:off x="972123" y="4613343"/>
            <a:ext cx="228534" cy="228534"/>
          </a:xfrm>
          <a:prstGeom prst="rect">
            <a:avLst/>
          </a:prstGeom>
        </p:spPr>
      </p:pic>
      <p:sp>
        <p:nvSpPr>
          <p:cNvPr id="35" name="Text 32"/>
          <p:cNvSpPr/>
          <p:nvPr/>
        </p:nvSpPr>
        <p:spPr>
          <a:xfrm>
            <a:off x="1276835" y="4605734"/>
            <a:ext cx="48775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비용</a:t>
            </a:r>
            <a:endParaRPr lang="en-US" sz="1600" dirty="0"/>
          </a:p>
        </p:txBody>
      </p:sp>
      <p:sp>
        <p:nvSpPr>
          <p:cNvPr id="36" name="Text 33"/>
          <p:cNvSpPr/>
          <p:nvPr/>
        </p:nvSpPr>
        <p:spPr>
          <a:xfrm>
            <a:off x="972123" y="4899422"/>
            <a:ext cx="3229713" cy="484783"/>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4A5568"/>
                </a:solidFill>
                <a:latin typeface="Arial" pitchFamily="34" charset="0"/>
                <a:ea typeface="Arial" pitchFamily="34" charset="-122"/>
                <a:cs typeface="Arial" pitchFamily="34" charset="-120"/>
              </a:rPr>
              <a:t>구축·운영비 없이, 요약만 넘겨 토큰을 아낀다</a:t>
            </a:r>
            <a:endParaRPr lang="en-US" sz="1292" dirty="0"/>
          </a:p>
        </p:txBody>
      </p:sp>
      <p:sp>
        <p:nvSpPr>
          <p:cNvPr id="37" name="Shape 34"/>
          <p:cNvSpPr/>
          <p:nvPr/>
        </p:nvSpPr>
        <p:spPr>
          <a:xfrm>
            <a:off x="4371887" y="4475628"/>
            <a:ext cx="3448227" cy="1014060"/>
          </a:xfrm>
          <a:prstGeom prst="roundRect">
            <a:avLst>
              <a:gd name="adj" fmla="val 7201"/>
            </a:avLst>
          </a:prstGeom>
          <a:solidFill>
            <a:srgbClr val="FCFBF8"/>
          </a:solidFill>
          <a:ln w="6350">
            <a:solidFill>
              <a:srgbClr val="DCD8CC"/>
            </a:solidFill>
            <a:prstDash val="solid"/>
          </a:ln>
        </p:spPr>
      </p:sp>
      <p:pic>
        <p:nvPicPr>
          <p:cNvPr id="38" name="Image 1" descr="Lock">    </p:cNvPr>
          <p:cNvPicPr>
            <a:picLocks noChangeAspect="1"/>
          </p:cNvPicPr>
          <p:nvPr/>
        </p:nvPicPr>
        <p:blipFill>
          <a:blip r:embed="rId2"/>
          <a:srcRect l="0" r="0" t="0" b="0"/>
          <a:stretch/>
        </p:blipFill>
        <p:spPr>
          <a:xfrm>
            <a:off x="4528124" y="4614115"/>
            <a:ext cx="228534" cy="228534"/>
          </a:xfrm>
          <a:prstGeom prst="rect">
            <a:avLst/>
          </a:prstGeom>
        </p:spPr>
      </p:pic>
      <p:sp>
        <p:nvSpPr>
          <p:cNvPr id="39" name="Text 35"/>
          <p:cNvSpPr/>
          <p:nvPr/>
        </p:nvSpPr>
        <p:spPr>
          <a:xfrm>
            <a:off x="4832835" y="4606506"/>
            <a:ext cx="48775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보안</a:t>
            </a:r>
            <a:endParaRPr lang="en-US" sz="1600" dirty="0"/>
          </a:p>
        </p:txBody>
      </p:sp>
      <p:sp>
        <p:nvSpPr>
          <p:cNvPr id="40" name="Text 36"/>
          <p:cNvSpPr/>
          <p:nvPr/>
        </p:nvSpPr>
        <p:spPr>
          <a:xfrm>
            <a:off x="4528124" y="4900966"/>
            <a:ext cx="3229826" cy="2565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새 계정·비밀값 없이, 내 권한 안에서만</a:t>
            </a:r>
            <a:endParaRPr lang="en-US" sz="1300" dirty="0"/>
          </a:p>
        </p:txBody>
      </p:sp>
      <p:sp>
        <p:nvSpPr>
          <p:cNvPr id="41" name="Shape 37"/>
          <p:cNvSpPr/>
          <p:nvPr/>
        </p:nvSpPr>
        <p:spPr>
          <a:xfrm>
            <a:off x="7927997" y="4475628"/>
            <a:ext cx="3448116" cy="1014060"/>
          </a:xfrm>
          <a:prstGeom prst="roundRect">
            <a:avLst>
              <a:gd name="adj" fmla="val 7201"/>
            </a:avLst>
          </a:prstGeom>
          <a:solidFill>
            <a:srgbClr val="FCFBF8"/>
          </a:solidFill>
          <a:ln w="6350">
            <a:solidFill>
              <a:srgbClr val="DCD8CC"/>
            </a:solidFill>
            <a:prstDash val="solid"/>
          </a:ln>
        </p:spPr>
      </p:sp>
      <p:pic>
        <p:nvPicPr>
          <p:cNvPr id="42" name="Image 2" descr="Lightbulb">    </p:cNvPr>
          <p:cNvPicPr>
            <a:picLocks noChangeAspect="1"/>
          </p:cNvPicPr>
          <p:nvPr/>
        </p:nvPicPr>
        <p:blipFill>
          <a:blip r:embed="rId3"/>
          <a:srcRect l="0" r="0" t="0" b="0"/>
          <a:stretch/>
        </p:blipFill>
        <p:spPr>
          <a:xfrm>
            <a:off x="8084234" y="4613343"/>
            <a:ext cx="228534" cy="228534"/>
          </a:xfrm>
          <a:prstGeom prst="rect">
            <a:avLst/>
          </a:prstGeom>
        </p:spPr>
      </p:pic>
      <p:sp>
        <p:nvSpPr>
          <p:cNvPr id="43" name="Text 38"/>
          <p:cNvSpPr/>
          <p:nvPr/>
        </p:nvSpPr>
        <p:spPr>
          <a:xfrm>
            <a:off x="8388946" y="4605734"/>
            <a:ext cx="48775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확장</a:t>
            </a:r>
            <a:endParaRPr lang="en-US" sz="1600" dirty="0"/>
          </a:p>
        </p:txBody>
      </p:sp>
      <p:sp>
        <p:nvSpPr>
          <p:cNvPr id="44" name="Text 39"/>
          <p:cNvSpPr/>
          <p:nvPr/>
        </p:nvSpPr>
        <p:spPr>
          <a:xfrm>
            <a:off x="8084234" y="4899422"/>
            <a:ext cx="3229713" cy="484783"/>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4A5568"/>
                </a:solidFill>
                <a:latin typeface="Arial" pitchFamily="34" charset="0"/>
                <a:ea typeface="Arial" pitchFamily="34" charset="-122"/>
                <a:cs typeface="Arial" pitchFamily="34" charset="-120"/>
              </a:rPr>
              <a:t>새 업무는 개발 없이, 절차서(Skill) 한 장으로 추가</a:t>
            </a:r>
            <a:endParaRPr lang="en-US" sz="1292" dirty="0"/>
          </a:p>
        </p:txBody>
      </p:sp>
      <p:sp>
        <p:nvSpPr>
          <p:cNvPr id="45" name="Text 40"/>
          <p:cNvSpPr/>
          <p:nvPr/>
        </p:nvSpPr>
        <p:spPr>
          <a:xfrm>
            <a:off x="812712" y="5670575"/>
            <a:ext cx="10566577" cy="577894"/>
          </a:xfrm>
          <a:prstGeom prst="roundRect">
            <a:avLst>
              <a:gd name="adj" fmla="val 17581"/>
            </a:avLst>
          </a:prstGeom>
          <a:solidFill>
            <a:srgbClr val="12202F"/>
          </a:solidFill>
          <a:ln/>
        </p:spPr>
        <p:txBody>
          <a:bodyPr wrap="square" lIns="224242" tIns="109347" rIns="224242" bIns="109347" rtlCol="0" anchor="ctr">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AI 시대의 경쟁력은 에이전트를 만드는 능력보다 </a:t>
            </a:r>
            <a:r>
              <a:rPr lang="en-US" sz="1600" b="1" dirty="0">
                <a:solidFill>
                  <a:srgbClr val="F2A65A"/>
                </a:solidFill>
                <a:latin typeface="Arial" pitchFamily="34" charset="0"/>
                <a:ea typeface="Arial" pitchFamily="34" charset="-122"/>
                <a:cs typeface="Arial" pitchFamily="34" charset="-120"/>
              </a:rPr>
              <a:t>일을 맡길 수 있게 절차를 정리하는 능력이다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2"/>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라이브 데모 · 약 32분</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이제 실제로 맡겨 본다</a:t>
            </a:r>
            <a:endParaRPr lang="en-US" sz="3000" dirty="0"/>
          </a:p>
        </p:txBody>
      </p:sp>
      <p:sp>
        <p:nvSpPr>
          <p:cNvPr id="4" name="Shape 2"/>
          <p:cNvSpPr/>
          <p:nvPr/>
        </p:nvSpPr>
        <p:spPr>
          <a:xfrm>
            <a:off x="819062" y="1521089"/>
            <a:ext cx="2019300" cy="2352896"/>
          </a:xfrm>
          <a:prstGeom prst="roundRect">
            <a:avLst>
              <a:gd name="adj" fmla="val 4717"/>
            </a:avLst>
          </a:prstGeom>
          <a:solidFill>
            <a:srgbClr val="FFF4E8"/>
          </a:solidFill>
          <a:ln w="12700">
            <a:solidFill>
              <a:srgbClr val="F2A65A"/>
            </a:solidFill>
            <a:prstDash val="solid"/>
          </a:ln>
        </p:spPr>
      </p:sp>
      <p:sp>
        <p:nvSpPr>
          <p:cNvPr id="5" name="Text 3"/>
          <p:cNvSpPr/>
          <p:nvPr/>
        </p:nvSpPr>
        <p:spPr>
          <a:xfrm>
            <a:off x="946767" y="1648792"/>
            <a:ext cx="1816806"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Arial" pitchFamily="34" charset="0"/>
                <a:ea typeface="Arial" pitchFamily="34" charset="-122"/>
                <a:cs typeface="Arial" pitchFamily="34" charset="-120"/>
              </a:rPr>
              <a:t>단계 0 · 3분</a:t>
            </a:r>
            <a:endParaRPr lang="en-US" sz="1200" dirty="0"/>
          </a:p>
        </p:txBody>
      </p:sp>
      <p:sp>
        <p:nvSpPr>
          <p:cNvPr id="6" name="Text 4"/>
          <p:cNvSpPr/>
          <p:nvPr/>
        </p:nvSpPr>
        <p:spPr>
          <a:xfrm>
            <a:off x="946767" y="1912714"/>
            <a:ext cx="1816806"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상황 연출</a:t>
            </a:r>
            <a:endParaRPr lang="en-US" sz="1600" dirty="0"/>
          </a:p>
        </p:txBody>
      </p:sp>
      <p:sp>
        <p:nvSpPr>
          <p:cNvPr id="7" name="Text 5"/>
          <p:cNvSpPr/>
          <p:nvPr/>
        </p:nvSpPr>
        <p:spPr>
          <a:xfrm>
            <a:off x="946767" y="2207174"/>
            <a:ext cx="1816806"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포털에서 설정</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3건을 바꾼다</a:t>
            </a:r>
            <a:endParaRPr lang="en-US" sz="1200" dirty="0"/>
          </a:p>
        </p:txBody>
      </p:sp>
      <p:pic>
        <p:nvPicPr>
          <p:cNvPr id="8" name="Image 0" descr="line">    </p:cNvPr>
          <p:cNvPicPr>
            <a:picLocks noChangeAspect="1"/>
          </p:cNvPicPr>
          <p:nvPr/>
        </p:nvPicPr>
        <p:blipFill>
          <a:blip r:embed="rId1"/>
          <a:srcRect l="0" r="0" t="-39" b="-39"/>
          <a:stretch/>
        </p:blipFill>
        <p:spPr>
          <a:xfrm>
            <a:off x="946767" y="2684307"/>
            <a:ext cx="1763889" cy="6350"/>
          </a:xfrm>
          <a:prstGeom prst="rect">
            <a:avLst/>
          </a:prstGeom>
        </p:spPr>
      </p:pic>
      <p:sp>
        <p:nvSpPr>
          <p:cNvPr id="9" name="Text 6"/>
          <p:cNvSpPr/>
          <p:nvPr/>
        </p:nvSpPr>
        <p:spPr>
          <a:xfrm>
            <a:off x="946767" y="2741302"/>
            <a:ext cx="1816806"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0" name="Text 7"/>
          <p:cNvSpPr/>
          <p:nvPr/>
        </p:nvSpPr>
        <p:spPr>
          <a:xfrm>
            <a:off x="946767" y="3005224"/>
            <a:ext cx="1816806"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Teams 알림</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(KST 시각)</a:t>
            </a:r>
            <a:endParaRPr lang="en-US" sz="1200" dirty="0"/>
          </a:p>
        </p:txBody>
      </p:sp>
      <p:sp>
        <p:nvSpPr>
          <p:cNvPr id="11" name="Text 8"/>
          <p:cNvSpPr/>
          <p:nvPr/>
        </p:nvSpPr>
        <p:spPr>
          <a:xfrm>
            <a:off x="946767" y="3482355"/>
            <a:ext cx="1763889" cy="263922"/>
          </a:xfrm>
          <a:custGeom>
            <a:avLst/>
            <a:gdLst/>
            <a:ahLst/>
            <a:cxnLst/>
            <a:rect l="l" t="t" r="r" b="b"/>
            <a:pathLst>
              <a:path w="1763889" h="263922">
                <a:moveTo>
                  <a:pt x="131961" y="0"/>
                </a:moveTo>
                <a:lnTo>
                  <a:pt x="1631928" y="0"/>
                </a:lnTo>
                <a:arcTo hR="131961" wR="131961" stAng="16200000" swAng="5400000"/>
                <a:lnTo>
                  <a:pt x="1763889" y="131961"/>
                </a:lnTo>
                <a:arcTo hR="131961" wR="131961" stAng="0" swAng="5400000"/>
                <a:lnTo>
                  <a:pt x="131961" y="263922"/>
                </a:lnTo>
                <a:arcTo hR="131961" wR="131961" stAng="5400000" swAng="5400000"/>
                <a:lnTo>
                  <a:pt x="0" y="131961"/>
                </a:lnTo>
                <a:arcTo hR="131961" wR="131961" stAng="10800000" swAng="5400000"/>
                <a:close/>
              </a:path>
            </a:pathLst>
          </a:custGeom>
          <a:solidFill>
            <a:srgbClr val="C2410C"/>
          </a:solidFill>
          <a:ln/>
        </p:spPr>
        <p:txBody>
          <a:bodyPr wrap="square" lIns="88900" tIns="25400" rIns="38100" bIns="0" rtlCol="0" anchor="t">
            <a:normAutofit/>
          </a:bodyPr>
          <a:lstStyle/>
          <a:p>
            <a:pPr algn="l" indent="0" marL="0">
              <a:lnSpc>
                <a:spcPts val="1680"/>
              </a:lnSpc>
              <a:buNone/>
            </a:pPr>
            <a:r>
              <a:rPr lang="en-US" sz="1200" b="1" dirty="0">
                <a:solidFill>
                  <a:srgbClr val="FCFBF8"/>
                </a:solidFill>
                <a:latin typeface="Arial" pitchFamily="34" charset="0"/>
                <a:ea typeface="Arial" pitchFamily="34" charset="-122"/>
                <a:cs typeface="Arial" pitchFamily="34" charset="-120"/>
              </a:rPr>
              <a:t>사람이 바꾼다</a:t>
            </a:r>
            <a:endParaRPr lang="en-US" sz="1200" dirty="0"/>
          </a:p>
        </p:txBody>
      </p:sp>
      <p:sp>
        <p:nvSpPr>
          <p:cNvPr id="12" name="Shape 9"/>
          <p:cNvSpPr/>
          <p:nvPr/>
        </p:nvSpPr>
        <p:spPr>
          <a:xfrm>
            <a:off x="2952596" y="1521089"/>
            <a:ext cx="2019410" cy="2352896"/>
          </a:xfrm>
          <a:prstGeom prst="roundRect">
            <a:avLst>
              <a:gd name="adj" fmla="val 4717"/>
            </a:avLst>
          </a:prstGeom>
          <a:solidFill>
            <a:srgbClr val="FCFBF8"/>
          </a:solidFill>
          <a:ln w="12700">
            <a:solidFill>
              <a:srgbClr val="2563C9"/>
            </a:solidFill>
            <a:prstDash val="solid"/>
          </a:ln>
        </p:spPr>
      </p:sp>
      <p:sp>
        <p:nvSpPr>
          <p:cNvPr id="13" name="Text 10"/>
          <p:cNvSpPr/>
          <p:nvPr/>
        </p:nvSpPr>
        <p:spPr>
          <a:xfrm>
            <a:off x="3080301" y="164879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단계 1 · 7분</a:t>
            </a:r>
            <a:endParaRPr lang="en-US" sz="1200" dirty="0"/>
          </a:p>
        </p:txBody>
      </p:sp>
      <p:sp>
        <p:nvSpPr>
          <p:cNvPr id="14" name="Text 11"/>
          <p:cNvSpPr/>
          <p:nvPr/>
        </p:nvSpPr>
        <p:spPr>
          <a:xfrm>
            <a:off x="3080301" y="1912714"/>
            <a:ext cx="181691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찾아낸다</a:t>
            </a:r>
            <a:endParaRPr lang="en-US" sz="1600" dirty="0"/>
          </a:p>
        </p:txBody>
      </p:sp>
      <p:sp>
        <p:nvSpPr>
          <p:cNvPr id="15" name="Text 12"/>
          <p:cNvSpPr/>
          <p:nvPr/>
        </p:nvSpPr>
        <p:spPr>
          <a:xfrm>
            <a:off x="3080301" y="220717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/drift-check</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한 줄 실행</a:t>
            </a:r>
            <a:endParaRPr lang="en-US" sz="1200" dirty="0"/>
          </a:p>
        </p:txBody>
      </p:sp>
      <p:pic>
        <p:nvPicPr>
          <p:cNvPr id="16" name="Image 1" descr="line">    </p:cNvPr>
          <p:cNvPicPr>
            <a:picLocks noChangeAspect="1"/>
          </p:cNvPicPr>
          <p:nvPr/>
        </p:nvPicPr>
        <p:blipFill>
          <a:blip r:embed="rId2"/>
          <a:srcRect l="0" r="0" t="-39" b="-39"/>
          <a:stretch/>
        </p:blipFill>
        <p:spPr>
          <a:xfrm>
            <a:off x="3080301" y="2684307"/>
            <a:ext cx="1763999" cy="6350"/>
          </a:xfrm>
          <a:prstGeom prst="rect">
            <a:avLst/>
          </a:prstGeom>
        </p:spPr>
      </p:pic>
      <p:sp>
        <p:nvSpPr>
          <p:cNvPr id="17" name="Text 13"/>
          <p:cNvSpPr/>
          <p:nvPr/>
        </p:nvSpPr>
        <p:spPr>
          <a:xfrm>
            <a:off x="3080301" y="274130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8" name="Text 14"/>
          <p:cNvSpPr/>
          <p:nvPr/>
        </p:nvSpPr>
        <p:spPr>
          <a:xfrm>
            <a:off x="3080301" y="300522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스스로 조사하고</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위험을 분류</a:t>
            </a:r>
            <a:endParaRPr lang="en-US" sz="1200" dirty="0"/>
          </a:p>
        </p:txBody>
      </p:sp>
      <p:sp>
        <p:nvSpPr>
          <p:cNvPr id="19" name="Text 15"/>
          <p:cNvSpPr/>
          <p:nvPr/>
        </p:nvSpPr>
        <p:spPr>
          <a:xfrm>
            <a:off x="3080301" y="3482355"/>
            <a:ext cx="1763999" cy="263922"/>
          </a:xfrm>
          <a:custGeom>
            <a:avLst/>
            <a:gdLst/>
            <a:ahLst/>
            <a:cxnLst/>
            <a:rect l="l" t="t" r="r" b="b"/>
            <a:pathLst>
              <a:path w="1763999" h="263922">
                <a:moveTo>
                  <a:pt x="131961" y="0"/>
                </a:moveTo>
                <a:lnTo>
                  <a:pt x="1632038" y="0"/>
                </a:lnTo>
                <a:arcTo hR="131961" wR="131961" stAng="16200000" swAng="5400000"/>
                <a:lnTo>
                  <a:pt x="1763999" y="131961"/>
                </a:lnTo>
                <a:arcTo hR="131961" wR="131961" stAng="0" swAng="5400000"/>
                <a:lnTo>
                  <a:pt x="131961" y="263922"/>
                </a:lnTo>
                <a:arcTo hR="131961" wR="131961" stAng="5400000" swAng="5400000"/>
                <a:lnTo>
                  <a:pt x="0" y="131961"/>
                </a:lnTo>
                <a:arcTo hR="131961" wR="131961" stAng="10800000" swAng="5400000"/>
                <a:close/>
              </a:path>
            </a:pathLst>
          </a:custGeom>
          <a:solidFill>
            <a:srgbClr val="C2410C"/>
          </a:solidFill>
          <a:ln/>
        </p:spPr>
        <p:txBody>
          <a:bodyPr wrap="square" lIns="88900" tIns="25400" rIns="38100" bIns="0" rtlCol="0" anchor="t">
            <a:normAutofit/>
          </a:bodyPr>
          <a:lstStyle/>
          <a:p>
            <a:pPr algn="l" indent="0" marL="0">
              <a:lnSpc>
                <a:spcPts val="1680"/>
              </a:lnSpc>
              <a:buNone/>
            </a:pPr>
            <a:r>
              <a:rPr lang="en-US" sz="1200" b="1" dirty="0">
                <a:solidFill>
                  <a:srgbClr val="FCFBF8"/>
                </a:solidFill>
                <a:latin typeface="Arial" pitchFamily="34" charset="0"/>
                <a:ea typeface="Arial" pitchFamily="34" charset="-122"/>
                <a:cs typeface="Arial" pitchFamily="34" charset="-120"/>
              </a:rPr>
              <a:t>승인: 일감 등록</a:t>
            </a:r>
            <a:endParaRPr lang="en-US" sz="1200" dirty="0"/>
          </a:p>
        </p:txBody>
      </p:sp>
      <p:sp>
        <p:nvSpPr>
          <p:cNvPr id="20" name="Shape 16"/>
          <p:cNvSpPr/>
          <p:nvPr/>
        </p:nvSpPr>
        <p:spPr>
          <a:xfrm>
            <a:off x="5086240" y="1521089"/>
            <a:ext cx="2019410" cy="2352896"/>
          </a:xfrm>
          <a:prstGeom prst="roundRect">
            <a:avLst>
              <a:gd name="adj" fmla="val 4717"/>
            </a:avLst>
          </a:prstGeom>
          <a:solidFill>
            <a:srgbClr val="FCFBF8"/>
          </a:solidFill>
          <a:ln w="12700">
            <a:solidFill>
              <a:srgbClr val="2563C9"/>
            </a:solidFill>
            <a:prstDash val="solid"/>
          </a:ln>
        </p:spPr>
      </p:sp>
      <p:sp>
        <p:nvSpPr>
          <p:cNvPr id="21" name="Text 17"/>
          <p:cNvSpPr/>
          <p:nvPr/>
        </p:nvSpPr>
        <p:spPr>
          <a:xfrm>
            <a:off x="5213946" y="164879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단계 2 · 9분</a:t>
            </a:r>
            <a:endParaRPr lang="en-US" sz="1200" dirty="0"/>
          </a:p>
        </p:txBody>
      </p:sp>
      <p:sp>
        <p:nvSpPr>
          <p:cNvPr id="22" name="Text 18"/>
          <p:cNvSpPr/>
          <p:nvPr/>
        </p:nvSpPr>
        <p:spPr>
          <a:xfrm>
            <a:off x="5213946" y="1912714"/>
            <a:ext cx="181691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검토·반영</a:t>
            </a:r>
            <a:endParaRPr lang="en-US" sz="1600" dirty="0"/>
          </a:p>
        </p:txBody>
      </p:sp>
      <p:sp>
        <p:nvSpPr>
          <p:cNvPr id="23" name="Text 19"/>
          <p:cNvSpPr/>
          <p:nvPr/>
        </p:nvSpPr>
        <p:spPr>
          <a:xfrm>
            <a:off x="5213946" y="220717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승인·반려를</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사람이 판정</a:t>
            </a:r>
            <a:endParaRPr lang="en-US" sz="1200" dirty="0"/>
          </a:p>
        </p:txBody>
      </p:sp>
      <p:pic>
        <p:nvPicPr>
          <p:cNvPr id="24" name="Image 2" descr="line">    </p:cNvPr>
          <p:cNvPicPr>
            <a:picLocks noChangeAspect="1"/>
          </p:cNvPicPr>
          <p:nvPr/>
        </p:nvPicPr>
        <p:blipFill>
          <a:blip r:embed="rId3"/>
          <a:srcRect l="0" r="0" t="-39" b="-39"/>
          <a:stretch/>
        </p:blipFill>
        <p:spPr>
          <a:xfrm>
            <a:off x="5213946" y="2684307"/>
            <a:ext cx="1763999" cy="6350"/>
          </a:xfrm>
          <a:prstGeom prst="rect">
            <a:avLst/>
          </a:prstGeom>
        </p:spPr>
      </p:pic>
      <p:sp>
        <p:nvSpPr>
          <p:cNvPr id="25" name="Text 20"/>
          <p:cNvSpPr/>
          <p:nvPr/>
        </p:nvSpPr>
        <p:spPr>
          <a:xfrm>
            <a:off x="5213946" y="274130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26" name="Text 21"/>
          <p:cNvSpPr/>
          <p:nvPr/>
        </p:nvSpPr>
        <p:spPr>
          <a:xfrm>
            <a:off x="5213946" y="300522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설계도 수정·PR</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 공식 문서 근거</a:t>
            </a:r>
            <a:endParaRPr lang="en-US" sz="1200" dirty="0"/>
          </a:p>
        </p:txBody>
      </p:sp>
      <p:sp>
        <p:nvSpPr>
          <p:cNvPr id="27" name="Text 22"/>
          <p:cNvSpPr/>
          <p:nvPr/>
        </p:nvSpPr>
        <p:spPr>
          <a:xfrm>
            <a:off x="5213946" y="3482355"/>
            <a:ext cx="1763999" cy="263922"/>
          </a:xfrm>
          <a:custGeom>
            <a:avLst/>
            <a:gdLst/>
            <a:ahLst/>
            <a:cxnLst/>
            <a:rect l="l" t="t" r="r" b="b"/>
            <a:pathLst>
              <a:path w="1763999" h="263922">
                <a:moveTo>
                  <a:pt x="131961" y="0"/>
                </a:moveTo>
                <a:lnTo>
                  <a:pt x="1632038" y="0"/>
                </a:lnTo>
                <a:arcTo hR="131961" wR="131961" stAng="16200000" swAng="5400000"/>
                <a:lnTo>
                  <a:pt x="1763999" y="131961"/>
                </a:lnTo>
                <a:arcTo hR="131961" wR="131961" stAng="0" swAng="5400000"/>
                <a:lnTo>
                  <a:pt x="131961" y="263922"/>
                </a:lnTo>
                <a:arcTo hR="131961" wR="131961" stAng="5400000" swAng="5400000"/>
                <a:lnTo>
                  <a:pt x="0" y="131961"/>
                </a:lnTo>
                <a:arcTo hR="131961" wR="131961" stAng="10800000" swAng="5400000"/>
                <a:close/>
              </a:path>
            </a:pathLst>
          </a:custGeom>
          <a:solidFill>
            <a:srgbClr val="C2410C"/>
          </a:solidFill>
          <a:ln/>
        </p:spPr>
        <p:txBody>
          <a:bodyPr wrap="square" lIns="88900" tIns="25400" rIns="38100" bIns="0" rtlCol="0" anchor="t">
            <a:normAutofit/>
          </a:bodyPr>
          <a:lstStyle/>
          <a:p>
            <a:pPr algn="l" indent="0" marL="0">
              <a:lnSpc>
                <a:spcPts val="1680"/>
              </a:lnSpc>
              <a:buNone/>
            </a:pPr>
            <a:r>
              <a:rPr lang="en-US" sz="1200" b="1" dirty="0">
                <a:solidFill>
                  <a:srgbClr val="FCFBF8"/>
                </a:solidFill>
                <a:latin typeface="Arial" pitchFamily="34" charset="0"/>
                <a:ea typeface="Arial" pitchFamily="34" charset="-122"/>
                <a:cs typeface="Arial" pitchFamily="34" charset="-120"/>
              </a:rPr>
              <a:t>승인: 변경 제안</a:t>
            </a:r>
            <a:endParaRPr lang="en-US" sz="1200" dirty="0"/>
          </a:p>
        </p:txBody>
      </p:sp>
      <p:sp>
        <p:nvSpPr>
          <p:cNvPr id="28" name="Shape 23"/>
          <p:cNvSpPr/>
          <p:nvPr/>
        </p:nvSpPr>
        <p:spPr>
          <a:xfrm>
            <a:off x="7219884" y="1521089"/>
            <a:ext cx="2019410" cy="2352896"/>
          </a:xfrm>
          <a:prstGeom prst="roundRect">
            <a:avLst>
              <a:gd name="adj" fmla="val 4717"/>
            </a:avLst>
          </a:prstGeom>
          <a:solidFill>
            <a:srgbClr val="FCFBF8"/>
          </a:solidFill>
          <a:ln w="12700">
            <a:solidFill>
              <a:srgbClr val="2563C9"/>
            </a:solidFill>
            <a:prstDash val="solid"/>
          </a:ln>
        </p:spPr>
      </p:sp>
      <p:sp>
        <p:nvSpPr>
          <p:cNvPr id="29" name="Text 24"/>
          <p:cNvSpPr/>
          <p:nvPr/>
        </p:nvSpPr>
        <p:spPr>
          <a:xfrm>
            <a:off x="7347589" y="164879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단계 3 · 9분</a:t>
            </a:r>
            <a:endParaRPr lang="en-US" sz="1200" dirty="0"/>
          </a:p>
        </p:txBody>
      </p:sp>
      <p:sp>
        <p:nvSpPr>
          <p:cNvPr id="30" name="Text 25"/>
          <p:cNvSpPr/>
          <p:nvPr/>
        </p:nvSpPr>
        <p:spPr>
          <a:xfrm>
            <a:off x="7347589" y="1912714"/>
            <a:ext cx="181691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보고·공유</a:t>
            </a:r>
            <a:endParaRPr lang="en-US" sz="1600" dirty="0"/>
          </a:p>
        </p:txBody>
      </p:sp>
      <p:sp>
        <p:nvSpPr>
          <p:cNvPr id="31" name="Text 26"/>
          <p:cNvSpPr/>
          <p:nvPr/>
        </p:nvSpPr>
        <p:spPr>
          <a:xfrm>
            <a:off x="7347589" y="220717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주간 보고서와</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운영 문서 게시</a:t>
            </a:r>
            <a:endParaRPr lang="en-US" sz="1200" dirty="0"/>
          </a:p>
        </p:txBody>
      </p:sp>
      <p:pic>
        <p:nvPicPr>
          <p:cNvPr id="32" name="Image 3" descr="line">    </p:cNvPr>
          <p:cNvPicPr>
            <a:picLocks noChangeAspect="1"/>
          </p:cNvPicPr>
          <p:nvPr/>
        </p:nvPicPr>
        <p:blipFill>
          <a:blip r:embed="rId4"/>
          <a:srcRect l="0" r="0" t="-39" b="-39"/>
          <a:stretch/>
        </p:blipFill>
        <p:spPr>
          <a:xfrm>
            <a:off x="7347589" y="2684307"/>
            <a:ext cx="1763999" cy="6350"/>
          </a:xfrm>
          <a:prstGeom prst="rect">
            <a:avLst/>
          </a:prstGeom>
        </p:spPr>
      </p:pic>
      <p:sp>
        <p:nvSpPr>
          <p:cNvPr id="33" name="Text 27"/>
          <p:cNvSpPr/>
          <p:nvPr/>
        </p:nvSpPr>
        <p:spPr>
          <a:xfrm>
            <a:off x="7347589" y="274130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34" name="Text 28"/>
          <p:cNvSpPr/>
          <p:nvPr/>
        </p:nvSpPr>
        <p:spPr>
          <a:xfrm>
            <a:off x="7347589" y="300522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Obsidian 그래프</a:t>
            </a:r>
            <a:endParaRPr lang="en-US" sz="1200" dirty="0"/>
          </a:p>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Confluence 트리</a:t>
            </a:r>
            <a:endParaRPr lang="en-US" sz="1200" dirty="0"/>
          </a:p>
        </p:txBody>
      </p:sp>
      <p:sp>
        <p:nvSpPr>
          <p:cNvPr id="35" name="Text 29"/>
          <p:cNvSpPr/>
          <p:nvPr/>
        </p:nvSpPr>
        <p:spPr>
          <a:xfrm>
            <a:off x="7347589" y="3482355"/>
            <a:ext cx="1763999" cy="263922"/>
          </a:xfrm>
          <a:custGeom>
            <a:avLst/>
            <a:gdLst/>
            <a:ahLst/>
            <a:cxnLst/>
            <a:rect l="l" t="t" r="r" b="b"/>
            <a:pathLst>
              <a:path w="1763999" h="263922">
                <a:moveTo>
                  <a:pt x="131961" y="0"/>
                </a:moveTo>
                <a:lnTo>
                  <a:pt x="1632038" y="0"/>
                </a:lnTo>
                <a:arcTo hR="131961" wR="131961" stAng="16200000" swAng="5400000"/>
                <a:lnTo>
                  <a:pt x="1763999" y="131961"/>
                </a:lnTo>
                <a:arcTo hR="131961" wR="131961" stAng="0" swAng="5400000"/>
                <a:lnTo>
                  <a:pt x="131961" y="263922"/>
                </a:lnTo>
                <a:arcTo hR="131961" wR="131961" stAng="5400000" swAng="5400000"/>
                <a:lnTo>
                  <a:pt x="0" y="131961"/>
                </a:lnTo>
                <a:arcTo hR="131961" wR="131961" stAng="10800000" swAng="5400000"/>
                <a:close/>
              </a:path>
            </a:pathLst>
          </a:custGeom>
          <a:solidFill>
            <a:srgbClr val="C2410C"/>
          </a:solidFill>
          <a:ln/>
        </p:spPr>
        <p:txBody>
          <a:bodyPr wrap="square" lIns="88900" tIns="25400" rIns="38100" bIns="0" rtlCol="0" anchor="t">
            <a:normAutofit/>
          </a:bodyPr>
          <a:lstStyle/>
          <a:p>
            <a:pPr algn="l" indent="0" marL="0">
              <a:lnSpc>
                <a:spcPts val="1680"/>
              </a:lnSpc>
              <a:buNone/>
            </a:pPr>
            <a:r>
              <a:rPr lang="en-US" sz="1200" b="1" dirty="0">
                <a:solidFill>
                  <a:srgbClr val="FCFBF8"/>
                </a:solidFill>
                <a:latin typeface="Arial" pitchFamily="34" charset="0"/>
                <a:ea typeface="Arial" pitchFamily="34" charset="-122"/>
                <a:cs typeface="Arial" pitchFamily="34" charset="-120"/>
              </a:rPr>
              <a:t>승인: 외부 공유</a:t>
            </a:r>
            <a:endParaRPr lang="en-US" sz="1200" dirty="0"/>
          </a:p>
        </p:txBody>
      </p:sp>
      <p:sp>
        <p:nvSpPr>
          <p:cNvPr id="36" name="Shape 30"/>
          <p:cNvSpPr/>
          <p:nvPr/>
        </p:nvSpPr>
        <p:spPr>
          <a:xfrm>
            <a:off x="9353528" y="1521089"/>
            <a:ext cx="2019410" cy="2352896"/>
          </a:xfrm>
          <a:prstGeom prst="roundRect">
            <a:avLst>
              <a:gd name="adj" fmla="val 4717"/>
            </a:avLst>
          </a:prstGeom>
          <a:solidFill>
            <a:srgbClr val="12202F"/>
          </a:solidFill>
          <a:ln w="12700">
            <a:solidFill>
              <a:srgbClr val="12202F"/>
            </a:solidFill>
            <a:prstDash val="solid"/>
          </a:ln>
        </p:spPr>
      </p:sp>
      <p:sp>
        <p:nvSpPr>
          <p:cNvPr id="37" name="Text 31"/>
          <p:cNvSpPr/>
          <p:nvPr/>
        </p:nvSpPr>
        <p:spPr>
          <a:xfrm>
            <a:off x="9481234" y="164879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Arial" pitchFamily="34" charset="0"/>
                <a:ea typeface="Arial" pitchFamily="34" charset="-122"/>
                <a:cs typeface="Arial" pitchFamily="34" charset="-120"/>
              </a:rPr>
              <a:t>단계 4 · 4분</a:t>
            </a:r>
            <a:endParaRPr lang="en-US" sz="1200" dirty="0"/>
          </a:p>
        </p:txBody>
      </p:sp>
      <p:sp>
        <p:nvSpPr>
          <p:cNvPr id="38" name="Text 32"/>
          <p:cNvSpPr/>
          <p:nvPr/>
        </p:nvSpPr>
        <p:spPr>
          <a:xfrm>
            <a:off x="9481234" y="1912714"/>
            <a:ext cx="181691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Arial" pitchFamily="34" charset="0"/>
                <a:ea typeface="Arial" pitchFamily="34" charset="-122"/>
                <a:cs typeface="Arial" pitchFamily="34" charset="-120"/>
              </a:rPr>
              <a:t>비밀 공개</a:t>
            </a:r>
            <a:endParaRPr lang="en-US" sz="1600" dirty="0"/>
          </a:p>
        </p:txBody>
      </p:sp>
      <p:sp>
        <p:nvSpPr>
          <p:cNvPr id="39" name="Text 33"/>
          <p:cNvSpPr/>
          <p:nvPr/>
        </p:nvSpPr>
        <p:spPr>
          <a:xfrm>
            <a:off x="9481234" y="220717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E"/>
                </a:solidFill>
                <a:latin typeface="Arial" pitchFamily="34" charset="0"/>
                <a:ea typeface="Arial" pitchFamily="34" charset="-122"/>
                <a:cs typeface="Arial" pitchFamily="34" charset="-120"/>
              </a:rPr>
              <a:t>업무 매뉴얼</a:t>
            </a:r>
            <a:endParaRPr lang="en-US" sz="1200" dirty="0"/>
          </a:p>
          <a:p>
            <a:pPr algn="l" indent="0" marL="0">
              <a:lnSpc>
                <a:spcPts val="1680"/>
              </a:lnSpc>
              <a:buNone/>
            </a:pPr>
            <a:r>
              <a:rPr lang="en-US" sz="1200" dirty="0">
                <a:solidFill>
                  <a:srgbClr val="C9D3DE"/>
                </a:solidFill>
                <a:latin typeface="Arial" pitchFamily="34" charset="0"/>
                <a:ea typeface="Arial" pitchFamily="34" charset="-122"/>
                <a:cs typeface="Arial" pitchFamily="34" charset="-120"/>
              </a:rPr>
              <a:t>4장 열어보기</a:t>
            </a:r>
            <a:endParaRPr lang="en-US" sz="1200" dirty="0"/>
          </a:p>
        </p:txBody>
      </p:sp>
      <p:pic>
        <p:nvPicPr>
          <p:cNvPr id="40" name="Image 4" descr="line">    </p:cNvPr>
          <p:cNvPicPr>
            <a:picLocks noChangeAspect="1"/>
          </p:cNvPicPr>
          <p:nvPr/>
        </p:nvPicPr>
        <p:blipFill>
          <a:blip r:embed="rId5"/>
          <a:srcRect l="0" r="0" t="-39" b="-39"/>
          <a:stretch/>
        </p:blipFill>
        <p:spPr>
          <a:xfrm>
            <a:off x="9481234" y="2684307"/>
            <a:ext cx="1763999" cy="6350"/>
          </a:xfrm>
          <a:prstGeom prst="rect">
            <a:avLst/>
          </a:prstGeom>
        </p:spPr>
      </p:pic>
      <p:sp>
        <p:nvSpPr>
          <p:cNvPr id="41" name="Text 34"/>
          <p:cNvSpPr/>
          <p:nvPr/>
        </p:nvSpPr>
        <p:spPr>
          <a:xfrm>
            <a:off x="9481234" y="2741302"/>
            <a:ext cx="1816919"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4EF"/>
                </a:solidFill>
                <a:latin typeface="Arial" pitchFamily="34" charset="0"/>
                <a:ea typeface="Arial" pitchFamily="34" charset="-122"/>
                <a:cs typeface="Arial" pitchFamily="34" charset="-120"/>
              </a:rPr>
              <a:t>볼 것</a:t>
            </a:r>
            <a:endParaRPr lang="en-US" sz="1200" dirty="0"/>
          </a:p>
        </p:txBody>
      </p:sp>
      <p:sp>
        <p:nvSpPr>
          <p:cNvPr id="42" name="Text 35"/>
          <p:cNvSpPr/>
          <p:nvPr/>
        </p:nvSpPr>
        <p:spPr>
          <a:xfrm>
            <a:off x="9481234" y="3005224"/>
            <a:ext cx="181691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E"/>
                </a:solidFill>
                <a:latin typeface="Arial" pitchFamily="34" charset="0"/>
                <a:ea typeface="Arial" pitchFamily="34" charset="-122"/>
                <a:cs typeface="Arial" pitchFamily="34" charset="-120"/>
              </a:rPr>
              <a:t>코드가 아닌</a:t>
            </a:r>
            <a:endParaRPr lang="en-US" sz="1200" dirty="0"/>
          </a:p>
          <a:p>
            <a:pPr algn="l" indent="0" marL="0">
              <a:lnSpc>
                <a:spcPts val="1680"/>
              </a:lnSpc>
              <a:buNone/>
            </a:pPr>
            <a:r>
              <a:rPr lang="en-US" sz="1200" dirty="0">
                <a:solidFill>
                  <a:srgbClr val="C9D3DE"/>
                </a:solidFill>
                <a:latin typeface="Arial" pitchFamily="34" charset="0"/>
                <a:ea typeface="Arial" pitchFamily="34" charset="-122"/>
                <a:cs typeface="Arial" pitchFamily="34" charset="-120"/>
              </a:rPr>
              <a:t>한국어 문서</a:t>
            </a:r>
            <a:endParaRPr lang="en-US" sz="1200" dirty="0"/>
          </a:p>
        </p:txBody>
      </p:sp>
      <p:sp>
        <p:nvSpPr>
          <p:cNvPr id="43" name="Text 36"/>
          <p:cNvSpPr/>
          <p:nvPr/>
        </p:nvSpPr>
        <p:spPr>
          <a:xfrm>
            <a:off x="9481234" y="3482355"/>
            <a:ext cx="1763999" cy="263922"/>
          </a:xfrm>
          <a:custGeom>
            <a:avLst/>
            <a:gdLst/>
            <a:ahLst/>
            <a:cxnLst/>
            <a:rect l="l" t="t" r="r" b="b"/>
            <a:pathLst>
              <a:path w="1763999" h="263922">
                <a:moveTo>
                  <a:pt x="131961" y="0"/>
                </a:moveTo>
                <a:lnTo>
                  <a:pt x="1632038" y="0"/>
                </a:lnTo>
                <a:arcTo hR="131961" wR="131961" stAng="16200000" swAng="5400000"/>
                <a:lnTo>
                  <a:pt x="1763999" y="131961"/>
                </a:lnTo>
                <a:arcTo hR="131961" wR="131961" stAng="0" swAng="5400000"/>
                <a:lnTo>
                  <a:pt x="131961" y="263922"/>
                </a:lnTo>
                <a:arcTo hR="131961" wR="131961" stAng="5400000" swAng="5400000"/>
                <a:lnTo>
                  <a:pt x="0" y="131961"/>
                </a:lnTo>
                <a:arcTo hR="131961" wR="131961" stAng="10800000" swAng="5400000"/>
                <a:close/>
              </a:path>
            </a:pathLst>
          </a:custGeom>
          <a:solidFill>
            <a:srgbClr val="F2A65A"/>
          </a:solidFill>
          <a:ln/>
        </p:spPr>
        <p:txBody>
          <a:bodyPr wrap="square" lIns="88900" tIns="25400" rIns="3810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대화로 Skill 생성</a:t>
            </a:r>
            <a:endParaRPr lang="en-US" sz="1200" dirty="0"/>
          </a:p>
        </p:txBody>
      </p:sp>
      <p:sp>
        <p:nvSpPr>
          <p:cNvPr id="44" name="Shape 37"/>
          <p:cNvSpPr/>
          <p:nvPr/>
        </p:nvSpPr>
        <p:spPr>
          <a:xfrm>
            <a:off x="815887" y="4061222"/>
            <a:ext cx="10560227" cy="414007"/>
          </a:xfrm>
          <a:prstGeom prst="roundRect">
            <a:avLst>
              <a:gd name="adj" fmla="val 17639"/>
            </a:avLst>
          </a:prstGeom>
          <a:solidFill>
            <a:srgbClr val="FCFBF8"/>
          </a:solidFill>
          <a:ln w="6350">
            <a:solidFill>
              <a:srgbClr val="DCD8CC"/>
            </a:solidFill>
            <a:prstDash val="solid"/>
          </a:ln>
        </p:spPr>
      </p:sp>
      <p:pic>
        <p:nvPicPr>
          <p:cNvPr id="45" name="Image 5" descr="Cloud">    </p:cNvPr>
          <p:cNvPicPr>
            <a:picLocks noChangeAspect="1"/>
          </p:cNvPicPr>
          <p:nvPr/>
        </p:nvPicPr>
        <p:blipFill>
          <a:blip r:embed="rId6"/>
          <a:srcRect l="0" r="0" t="0" b="0"/>
          <a:stretch/>
        </p:blipFill>
        <p:spPr>
          <a:xfrm>
            <a:off x="972123" y="4153957"/>
            <a:ext cx="228534" cy="228534"/>
          </a:xfrm>
          <a:prstGeom prst="rect">
            <a:avLst/>
          </a:prstGeom>
        </p:spPr>
      </p:pic>
      <p:sp>
        <p:nvSpPr>
          <p:cNvPr id="46" name="Text 38"/>
          <p:cNvSpPr/>
          <p:nvPr/>
        </p:nvSpPr>
        <p:spPr>
          <a:xfrm>
            <a:off x="1302191" y="4161563"/>
            <a:ext cx="10070748"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실습 무대</a:t>
            </a:r>
            <a:r>
              <a:rPr lang="en-US" sz="1200" dirty="0">
                <a:solidFill>
                  <a:srgbClr val="12202F"/>
                </a:solidFill>
                <a:latin typeface="Arial" pitchFamily="34" charset="0"/>
                <a:ea typeface="Arial" pitchFamily="34" charset="-122"/>
                <a:cs typeface="Arial" pitchFamily="34" charset="-120"/>
              </a:rPr>
              <a:t>: Azure 리소스 그룹 1개(VNet · NSG · Storage · Key Vault) · Azure DevOps 프로젝트 · Confluence 스페이스 · Obsidian Vault</a:t>
            </a:r>
            <a:endParaRPr lang="en-US" sz="1200" dirty="0"/>
          </a:p>
        </p:txBody>
      </p:sp>
      <p:sp>
        <p:nvSpPr>
          <p:cNvPr id="47" name="Shape 39"/>
          <p:cNvSpPr/>
          <p:nvPr/>
        </p:nvSpPr>
        <p:spPr>
          <a:xfrm>
            <a:off x="812712" y="4656113"/>
            <a:ext cx="10566577" cy="731132"/>
          </a:xfrm>
          <a:prstGeom prst="roundRect">
            <a:avLst>
              <a:gd name="adj" fmla="val 13896"/>
            </a:avLst>
          </a:prstGeom>
          <a:solidFill>
            <a:srgbClr val="12202F"/>
          </a:solidFill>
          <a:ln/>
        </p:spPr>
      </p:sp>
      <p:sp>
        <p:nvSpPr>
          <p:cNvPr id="48" name="Text 40"/>
          <p:cNvSpPr/>
          <p:nvPr/>
        </p:nvSpPr>
        <p:spPr>
          <a:xfrm>
            <a:off x="1066712" y="4884539"/>
            <a:ext cx="6583627" cy="299685"/>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관전 포인트: Copilot이 일하는 동안, </a:t>
            </a:r>
            <a:r>
              <a:rPr lang="en-US" sz="1600" b="1" dirty="0">
                <a:solidFill>
                  <a:srgbClr val="F2A65A"/>
                </a:solidFill>
                <a:latin typeface="Arial" pitchFamily="34" charset="0"/>
                <a:ea typeface="Arial" pitchFamily="34" charset="-122"/>
                <a:cs typeface="Arial" pitchFamily="34" charset="-120"/>
              </a:rPr>
              <a:t>사람은 언제 개입하는가</a:t>
            </a:r>
            <a:endParaRPr lang="en-US" sz="1600" dirty="0"/>
          </a:p>
        </p:txBody>
      </p:sp>
      <p:sp>
        <p:nvSpPr>
          <p:cNvPr id="49" name="Text 41"/>
          <p:cNvSpPr/>
          <p:nvPr/>
        </p:nvSpPr>
        <p:spPr>
          <a:xfrm>
            <a:off x="9986831" y="4808469"/>
            <a:ext cx="1138458" cy="4518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주황색 = 사람이</a:t>
            </a:r>
            <a:endParaRPr lang="en-US" sz="1200" dirty="0"/>
          </a:p>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개입하는 순간</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pic>
        <p:nvPicPr>
          <p:cNvPr id="2" name="Image 0" descr="Star">    </p:cNvPr>
          <p:cNvPicPr>
            <a:picLocks noChangeAspect="1"/>
          </p:cNvPicPr>
          <p:nvPr/>
        </p:nvPicPr>
        <p:blipFill>
          <a:blip r:embed="rId1"/>
          <a:srcRect l="0" r="0" t="0" b="0"/>
          <a:stretch/>
        </p:blipFill>
        <p:spPr>
          <a:xfrm>
            <a:off x="1143000" y="952500"/>
            <a:ext cx="355534" cy="355534"/>
          </a:xfrm>
          <a:prstGeom prst="rect">
            <a:avLst/>
          </a:prstGeom>
        </p:spPr>
      </p:pic>
      <p:pic>
        <p:nvPicPr>
          <p:cNvPr id="3" name="Image 1" descr="Star">    </p:cNvPr>
          <p:cNvPicPr>
            <a:picLocks noChangeAspect="1"/>
          </p:cNvPicPr>
          <p:nvPr/>
        </p:nvPicPr>
        <p:blipFill>
          <a:blip r:embed="rId2"/>
          <a:srcRect l="0" r="0" t="0" b="0"/>
          <a:stretch/>
        </p:blipFill>
        <p:spPr>
          <a:xfrm>
            <a:off x="10287001" y="1143000"/>
            <a:ext cx="254000" cy="254000"/>
          </a:xfrm>
          <a:prstGeom prst="rect">
            <a:avLst/>
          </a:prstGeom>
        </p:spPr>
      </p:pic>
      <p:pic>
        <p:nvPicPr>
          <p:cNvPr id="4" name="Image 2" descr="Star">    </p:cNvPr>
          <p:cNvPicPr>
            <a:picLocks noChangeAspect="1"/>
          </p:cNvPicPr>
          <p:nvPr/>
        </p:nvPicPr>
        <p:blipFill>
          <a:blip r:embed="rId3"/>
          <a:srcRect l="0" r="0" t="0" b="0"/>
          <a:stretch/>
        </p:blipFill>
        <p:spPr>
          <a:xfrm>
            <a:off x="9525001" y="5461000"/>
            <a:ext cx="406356" cy="406356"/>
          </a:xfrm>
          <a:prstGeom prst="rect">
            <a:avLst/>
          </a:prstGeom>
        </p:spPr>
      </p:pic>
      <p:pic>
        <p:nvPicPr>
          <p:cNvPr id="5" name="Image 3" descr="Star">    </p:cNvPr>
          <p:cNvPicPr>
            <a:picLocks noChangeAspect="1"/>
          </p:cNvPicPr>
          <p:nvPr/>
        </p:nvPicPr>
        <p:blipFill>
          <a:blip r:embed="rId4"/>
          <a:srcRect l="0" r="0" t="0" b="0"/>
          <a:stretch/>
        </p:blipFill>
        <p:spPr>
          <a:xfrm>
            <a:off x="1651000" y="5588000"/>
            <a:ext cx="228534" cy="228534"/>
          </a:xfrm>
          <a:prstGeom prst="rect">
            <a:avLst/>
          </a:prstGeom>
        </p:spPr>
      </p:pic>
      <p:sp>
        <p:nvSpPr>
          <p:cNvPr id="6" name="Shape 0"/>
          <p:cNvSpPr/>
          <p:nvPr/>
        </p:nvSpPr>
        <p:spPr>
          <a:xfrm>
            <a:off x="1588338" y="1657350"/>
            <a:ext cx="3543300" cy="3543300"/>
          </a:xfrm>
          <a:prstGeom prst="roundRect">
            <a:avLst>
              <a:gd name="adj" fmla="val 45699"/>
            </a:avLst>
          </a:prstGeom>
          <a:solidFill>
            <a:srgbClr val="FCFBF8"/>
          </a:solidFill>
          <a:ln w="12700">
            <a:solidFill>
              <a:srgbClr val="DCD8CC"/>
            </a:solidFill>
            <a:prstDash val="solid"/>
          </a:ln>
          <a:effectLst>
            <a:outerShdw sx="100000" sy="100000" kx="0" ky="0" algn="bl" rotWithShape="0" blurRad="254000" dist="101600" dir="5400000">
              <a:srgbClr val="12202F">
                <a:alpha val="12000"/>
              </a:srgbClr>
            </a:outerShdw>
          </a:effectLst>
        </p:spPr>
      </p:sp>
      <p:pic>
        <p:nvPicPr>
          <p:cNvPr id="7" name="Image 4" descr="GitHub Copilot 마스코트">    </p:cNvPr>
          <p:cNvPicPr>
            <a:picLocks noChangeAspect="1"/>
          </p:cNvPicPr>
          <p:nvPr/>
        </p:nvPicPr>
        <p:blipFill>
          <a:blip r:embed="rId5"/>
          <a:srcRect l="0" r="0" t="-42" b="-42"/>
          <a:stretch/>
        </p:blipFill>
        <p:spPr>
          <a:xfrm>
            <a:off x="2089988" y="2159000"/>
            <a:ext cx="2540000" cy="2540000"/>
          </a:xfrm>
          <a:prstGeom prst="rect">
            <a:avLst/>
          </a:prstGeom>
        </p:spPr>
      </p:pic>
      <p:pic>
        <p:nvPicPr>
          <p:cNvPr id="8" name="Image 5" descr="arrow-left">    </p:cNvPr>
          <p:cNvPicPr>
            <a:picLocks noChangeAspect="1"/>
          </p:cNvPicPr>
          <p:nvPr/>
        </p:nvPicPr>
        <p:blipFill>
          <a:blip r:embed="rId6"/>
          <a:srcRect l="-12" r="-12" t="0" b="0"/>
          <a:stretch/>
        </p:blipFill>
        <p:spPr>
          <a:xfrm>
            <a:off x="5391988" y="3276643"/>
            <a:ext cx="457178" cy="304712"/>
          </a:xfrm>
          <a:prstGeom prst="rect">
            <a:avLst/>
          </a:prstGeom>
        </p:spPr>
      </p:pic>
      <p:sp>
        <p:nvSpPr>
          <p:cNvPr id="9" name="Shape 1"/>
          <p:cNvSpPr/>
          <p:nvPr/>
        </p:nvSpPr>
        <p:spPr>
          <a:xfrm>
            <a:off x="6109516" y="2062603"/>
            <a:ext cx="4494147" cy="2165152"/>
          </a:xfrm>
          <a:prstGeom prst="roundRect">
            <a:avLst>
              <a:gd name="adj" fmla="val 11438"/>
            </a:avLst>
          </a:prstGeom>
          <a:solidFill>
            <a:srgbClr val="FCFBF8"/>
          </a:solidFill>
          <a:ln w="12700">
            <a:solidFill>
              <a:srgbClr val="DCD8CC"/>
            </a:solidFill>
            <a:prstDash val="solid"/>
          </a:ln>
          <a:effectLst>
            <a:outerShdw sx="100000" sy="100000" kx="0" ky="0" algn="bl" rotWithShape="0" blurRad="254000" dist="101600" dir="5400000">
              <a:srgbClr val="12202F">
                <a:alpha val="12000"/>
              </a:srgbClr>
            </a:outerShdw>
          </a:effectLst>
        </p:spPr>
      </p:sp>
      <p:sp>
        <p:nvSpPr>
          <p:cNvPr id="10" name="Text 2"/>
          <p:cNvSpPr/>
          <p:nvPr/>
        </p:nvSpPr>
        <p:spPr>
          <a:xfrm>
            <a:off x="6465755" y="2368020"/>
            <a:ext cx="389511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C9"/>
                </a:solidFill>
                <a:latin typeface="Arial" pitchFamily="34" charset="0"/>
                <a:ea typeface="Arial" pitchFamily="34" charset="-122"/>
                <a:cs typeface="Arial" pitchFamily="34" charset="-120"/>
              </a:rPr>
              <a:t>GitHub Copilot</a:t>
            </a:r>
            <a:endParaRPr lang="en-US" sz="1600" dirty="0"/>
          </a:p>
        </p:txBody>
      </p:sp>
      <p:sp>
        <p:nvSpPr>
          <p:cNvPr id="11" name="Text 3"/>
          <p:cNvSpPr/>
          <p:nvPr>
            <p:ph type="title"/>
          </p:nvPr>
        </p:nvSpPr>
        <p:spPr>
          <a:xfrm>
            <a:off x="6465755" y="2753981"/>
            <a:ext cx="3895118" cy="1193756"/>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12202F"/>
                </a:solidFill>
                <a:latin typeface="Arial" pitchFamily="34" charset="0"/>
                <a:ea typeface="Arial" pitchFamily="34" charset="-122"/>
                <a:cs typeface="Arial" pitchFamily="34" charset="-120"/>
              </a:rPr>
              <a:t>핸즈온 데모,</a:t>
            </a:r>
            <a:endParaRPr lang="en-US" sz="4000" dirty="0"/>
          </a:p>
          <a:p>
            <a:pPr algn="l" indent="0" marL="0">
              <a:lnSpc>
                <a:spcPts val="4600"/>
              </a:lnSpc>
              <a:buNone/>
            </a:pPr>
            <a:r>
              <a:rPr lang="en-US" sz="4000" b="1" i="0" dirty="0">
                <a:solidFill>
                  <a:srgbClr val="12202F"/>
                </a:solidFill>
                <a:latin typeface="Arial" pitchFamily="34" charset="0"/>
                <a:ea typeface="Arial" pitchFamily="34" charset="-122"/>
                <a:cs typeface="Arial" pitchFamily="34" charset="-120"/>
              </a:rPr>
              <a:t>같이 해볼까요?</a:t>
            </a:r>
            <a:endParaRPr lang="en-US" sz="4000" dirty="0"/>
          </a:p>
        </p:txBody>
      </p:sp>
      <p:sp>
        <p:nvSpPr>
          <p:cNvPr id="12" name="Text 4"/>
          <p:cNvSpPr/>
          <p:nvPr/>
        </p:nvSpPr>
        <p:spPr>
          <a:xfrm>
            <a:off x="6109516" y="4443633"/>
            <a:ext cx="1037255"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VS Code</a:t>
            </a:r>
            <a:endParaRPr lang="en-US" sz="1400" dirty="0"/>
          </a:p>
        </p:txBody>
      </p:sp>
      <p:sp>
        <p:nvSpPr>
          <p:cNvPr id="13" name="Text 5"/>
          <p:cNvSpPr/>
          <p:nvPr/>
        </p:nvSpPr>
        <p:spPr>
          <a:xfrm>
            <a:off x="7261005" y="4443633"/>
            <a:ext cx="1205155"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Azure 포털</a:t>
            </a:r>
            <a:endParaRPr lang="en-US" sz="1400" dirty="0"/>
          </a:p>
        </p:txBody>
      </p:sp>
      <p:sp>
        <p:nvSpPr>
          <p:cNvPr id="14" name="Text 6"/>
          <p:cNvSpPr/>
          <p:nvPr/>
        </p:nvSpPr>
        <p:spPr>
          <a:xfrm>
            <a:off x="8580394" y="4443633"/>
            <a:ext cx="856346"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Teams</a:t>
            </a:r>
            <a:endParaRPr lang="en-US" sz="1400" dirty="0"/>
          </a:p>
        </p:txBody>
      </p:sp>
      <p:sp>
        <p:nvSpPr>
          <p:cNvPr id="15" name="Text 7"/>
          <p:cNvSpPr/>
          <p:nvPr/>
        </p:nvSpPr>
        <p:spPr>
          <a:xfrm>
            <a:off x="9544624" y="4437283"/>
            <a:ext cx="1065389" cy="364464"/>
          </a:xfrm>
          <a:prstGeom prst="roundRect">
            <a:avLst>
              <a:gd name="adj" fmla="val 50000"/>
            </a:avLst>
          </a:prstGeom>
          <a:solidFill>
            <a:srgbClr val="F2A65A"/>
          </a:solidFill>
          <a:ln/>
        </p:spPr>
        <p:txBody>
          <a:bodyPr wrap="none" lIns="0" tIns="0" rIns="0" bIns="0" rtlCol="0" anchor="t">
            <a:normAutofit/>
          </a:bodyPr>
          <a:lstStyle/>
          <a:p>
            <a:pPr algn="ctr" indent="0" marL="0">
              <a:lnSpc>
                <a:spcPts val="1960"/>
              </a:lnSpc>
              <a:buNone/>
            </a:pPr>
            <a:r>
              <a:rPr lang="en-US" sz="1400" b="1" dirty="0">
                <a:solidFill>
                  <a:srgbClr val="12202F"/>
                </a:solidFill>
                <a:latin typeface="Arial" pitchFamily="34" charset="0"/>
                <a:ea typeface="Arial" pitchFamily="34" charset="-122"/>
                <a:cs typeface="Arial" pitchFamily="34" charset="-120"/>
              </a:rPr>
              <a:t>화면 전환</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2"/>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오늘 세션 정리</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데모 동안 동료가 한 일, 사람이 한 일</a:t>
            </a:r>
            <a:endParaRPr lang="en-US" sz="3000" dirty="0"/>
          </a:p>
        </p:txBody>
      </p:sp>
      <p:sp>
        <p:nvSpPr>
          <p:cNvPr id="4" name="Text 2"/>
          <p:cNvSpPr/>
          <p:nvPr/>
        </p:nvSpPr>
        <p:spPr>
          <a:xfrm>
            <a:off x="812712" y="1514739"/>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Arial" pitchFamily="34" charset="0"/>
                <a:ea typeface="Arial" pitchFamily="34" charset="-122"/>
                <a:cs typeface="Arial" pitchFamily="34" charset="-120"/>
              </a:rPr>
              <a:t>AI 동료가 만든 결과</a:t>
            </a:r>
            <a:endParaRPr lang="en-US" sz="1200" dirty="0"/>
          </a:p>
        </p:txBody>
      </p:sp>
      <p:sp>
        <p:nvSpPr>
          <p:cNvPr id="5" name="Shape 3"/>
          <p:cNvSpPr/>
          <p:nvPr/>
        </p:nvSpPr>
        <p:spPr>
          <a:xfrm>
            <a:off x="819062" y="1810476"/>
            <a:ext cx="2552766" cy="1382426"/>
          </a:xfrm>
          <a:prstGeom prst="roundRect">
            <a:avLst>
              <a:gd name="adj" fmla="val 6890"/>
            </a:avLst>
          </a:prstGeom>
          <a:solidFill>
            <a:srgbClr val="FCFBF8"/>
          </a:solidFill>
          <a:ln w="12700">
            <a:solidFill>
              <a:srgbClr val="2563C9"/>
            </a:solidFill>
            <a:prstDash val="solid"/>
          </a:ln>
        </p:spPr>
      </p:sp>
      <p:pic>
        <p:nvPicPr>
          <p:cNvPr id="6" name="Image 0" descr="Search">    </p:cNvPr>
          <p:cNvPicPr>
            <a:picLocks noChangeAspect="1"/>
          </p:cNvPicPr>
          <p:nvPr/>
        </p:nvPicPr>
        <p:blipFill>
          <a:blip r:embed="rId1"/>
          <a:srcRect l="0" r="0" t="0" b="0"/>
          <a:stretch/>
        </p:blipFill>
        <p:spPr>
          <a:xfrm>
            <a:off x="972123" y="1963539"/>
            <a:ext cx="304712" cy="304712"/>
          </a:xfrm>
          <a:prstGeom prst="rect">
            <a:avLst/>
          </a:prstGeom>
        </p:spPr>
      </p:pic>
      <p:sp>
        <p:nvSpPr>
          <p:cNvPr id="7" name="Text 4"/>
          <p:cNvSpPr/>
          <p:nvPr/>
        </p:nvSpPr>
        <p:spPr>
          <a:xfrm>
            <a:off x="972123" y="2318962"/>
            <a:ext cx="2314043"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변경 분석·일감</a:t>
            </a:r>
            <a:endParaRPr lang="en-US" sz="1600" dirty="0"/>
          </a:p>
        </p:txBody>
      </p:sp>
      <p:sp>
        <p:nvSpPr>
          <p:cNvPr id="8" name="Text 5"/>
          <p:cNvSpPr/>
          <p:nvPr/>
        </p:nvSpPr>
        <p:spPr>
          <a:xfrm>
            <a:off x="972123" y="2613422"/>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누가·언제·무엇을, 위험도 분류, Azure DevOps 일감</a:t>
            </a:r>
            <a:endParaRPr lang="en-US" sz="1200" dirty="0"/>
          </a:p>
        </p:txBody>
      </p:sp>
      <p:sp>
        <p:nvSpPr>
          <p:cNvPr id="9" name="Shape 6"/>
          <p:cNvSpPr/>
          <p:nvPr/>
        </p:nvSpPr>
        <p:spPr>
          <a:xfrm>
            <a:off x="3486062" y="1810476"/>
            <a:ext cx="2552877" cy="1382426"/>
          </a:xfrm>
          <a:prstGeom prst="roundRect">
            <a:avLst>
              <a:gd name="adj" fmla="val 6890"/>
            </a:avLst>
          </a:prstGeom>
          <a:solidFill>
            <a:srgbClr val="FCFBF8"/>
          </a:solidFill>
          <a:ln w="12700">
            <a:solidFill>
              <a:srgbClr val="2563C9"/>
            </a:solidFill>
            <a:prstDash val="solid"/>
          </a:ln>
        </p:spPr>
      </p:sp>
      <p:pic>
        <p:nvPicPr>
          <p:cNvPr id="10" name="Image 1" descr="Wrench">    </p:cNvPr>
          <p:cNvPicPr>
            <a:picLocks noChangeAspect="1"/>
          </p:cNvPicPr>
          <p:nvPr/>
        </p:nvPicPr>
        <p:blipFill>
          <a:blip r:embed="rId2"/>
          <a:srcRect l="0" r="0" t="0" b="0"/>
          <a:stretch/>
        </p:blipFill>
        <p:spPr>
          <a:xfrm>
            <a:off x="3639124" y="1963539"/>
            <a:ext cx="304712" cy="304712"/>
          </a:xfrm>
          <a:prstGeom prst="rect">
            <a:avLst/>
          </a:prstGeom>
        </p:spPr>
      </p:pic>
      <p:sp>
        <p:nvSpPr>
          <p:cNvPr id="11" name="Text 7"/>
          <p:cNvSpPr/>
          <p:nvPr/>
        </p:nvSpPr>
        <p:spPr>
          <a:xfrm>
            <a:off x="3639124" y="2318962"/>
            <a:ext cx="2314156"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설계도·산출물</a:t>
            </a:r>
            <a:endParaRPr lang="en-US" sz="1600" dirty="0"/>
          </a:p>
        </p:txBody>
      </p:sp>
      <p:sp>
        <p:nvSpPr>
          <p:cNvPr id="12" name="Text 8"/>
          <p:cNvSpPr/>
          <p:nvPr/>
        </p:nvSpPr>
        <p:spPr>
          <a:xfrm>
            <a:off x="3639124" y="2613422"/>
            <a:ext cx="2314156"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Bicep, 구성도, 네트워크 문서, 변경 이력, PR</a:t>
            </a:r>
            <a:endParaRPr lang="en-US" sz="1200" dirty="0"/>
          </a:p>
        </p:txBody>
      </p:sp>
      <p:sp>
        <p:nvSpPr>
          <p:cNvPr id="13" name="Shape 9"/>
          <p:cNvSpPr/>
          <p:nvPr/>
        </p:nvSpPr>
        <p:spPr>
          <a:xfrm>
            <a:off x="6153172" y="1810476"/>
            <a:ext cx="2552766" cy="1382426"/>
          </a:xfrm>
          <a:prstGeom prst="roundRect">
            <a:avLst>
              <a:gd name="adj" fmla="val 6890"/>
            </a:avLst>
          </a:prstGeom>
          <a:solidFill>
            <a:srgbClr val="FCFBF8"/>
          </a:solidFill>
          <a:ln w="12700">
            <a:solidFill>
              <a:srgbClr val="2563C9"/>
            </a:solidFill>
            <a:prstDash val="solid"/>
          </a:ln>
        </p:spPr>
      </p:sp>
      <p:pic>
        <p:nvPicPr>
          <p:cNvPr id="14" name="Image 2" descr="Book">    </p:cNvPr>
          <p:cNvPicPr>
            <a:picLocks noChangeAspect="1"/>
          </p:cNvPicPr>
          <p:nvPr/>
        </p:nvPicPr>
        <p:blipFill>
          <a:blip r:embed="rId3"/>
          <a:srcRect l="0" r="0" t="0" b="0"/>
          <a:stretch/>
        </p:blipFill>
        <p:spPr>
          <a:xfrm>
            <a:off x="6306234" y="1963539"/>
            <a:ext cx="304712" cy="304712"/>
          </a:xfrm>
          <a:prstGeom prst="rect">
            <a:avLst/>
          </a:prstGeom>
        </p:spPr>
      </p:pic>
      <p:sp>
        <p:nvSpPr>
          <p:cNvPr id="15" name="Text 10"/>
          <p:cNvSpPr/>
          <p:nvPr/>
        </p:nvSpPr>
        <p:spPr>
          <a:xfrm>
            <a:off x="6306234" y="2318962"/>
            <a:ext cx="2314043"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주간 보고서</a:t>
            </a:r>
            <a:endParaRPr lang="en-US" sz="1600" dirty="0"/>
          </a:p>
        </p:txBody>
      </p:sp>
      <p:sp>
        <p:nvSpPr>
          <p:cNvPr id="16" name="Text 11"/>
          <p:cNvSpPr/>
          <p:nvPr/>
        </p:nvSpPr>
        <p:spPr>
          <a:xfrm>
            <a:off x="6306234" y="2613422"/>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Obsidian 개인 지식창고에 연결된 노트로</a:t>
            </a:r>
            <a:endParaRPr lang="en-US" sz="1200" dirty="0"/>
          </a:p>
        </p:txBody>
      </p:sp>
      <p:sp>
        <p:nvSpPr>
          <p:cNvPr id="17" name="Shape 12"/>
          <p:cNvSpPr/>
          <p:nvPr/>
        </p:nvSpPr>
        <p:spPr>
          <a:xfrm>
            <a:off x="8820172" y="1810476"/>
            <a:ext cx="2552766" cy="1382426"/>
          </a:xfrm>
          <a:prstGeom prst="roundRect">
            <a:avLst>
              <a:gd name="adj" fmla="val 6890"/>
            </a:avLst>
          </a:prstGeom>
          <a:solidFill>
            <a:srgbClr val="FCFBF8"/>
          </a:solidFill>
          <a:ln w="12700">
            <a:solidFill>
              <a:srgbClr val="2563C9"/>
            </a:solidFill>
            <a:prstDash val="solid"/>
          </a:ln>
        </p:spPr>
      </p:sp>
      <p:pic>
        <p:nvPicPr>
          <p:cNvPr id="18" name="Image 3" descr="PaperPlane">    </p:cNvPr>
          <p:cNvPicPr>
            <a:picLocks noChangeAspect="1"/>
          </p:cNvPicPr>
          <p:nvPr/>
        </p:nvPicPr>
        <p:blipFill>
          <a:blip r:embed="rId4"/>
          <a:srcRect l="0" r="0" t="0" b="0"/>
          <a:stretch/>
        </p:blipFill>
        <p:spPr>
          <a:xfrm>
            <a:off x="8973234" y="1963539"/>
            <a:ext cx="304712" cy="304712"/>
          </a:xfrm>
          <a:prstGeom prst="rect">
            <a:avLst/>
          </a:prstGeom>
        </p:spPr>
      </p:pic>
      <p:sp>
        <p:nvSpPr>
          <p:cNvPr id="19" name="Text 13"/>
          <p:cNvSpPr/>
          <p:nvPr/>
        </p:nvSpPr>
        <p:spPr>
          <a:xfrm>
            <a:off x="8973234" y="2318962"/>
            <a:ext cx="2314043"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Arial" pitchFamily="34" charset="0"/>
                <a:ea typeface="Arial" pitchFamily="34" charset="-122"/>
                <a:cs typeface="Arial" pitchFamily="34" charset="-120"/>
              </a:rPr>
              <a:t>공유 문서</a:t>
            </a:r>
            <a:endParaRPr lang="en-US" sz="1600" dirty="0"/>
          </a:p>
        </p:txBody>
      </p:sp>
      <p:sp>
        <p:nvSpPr>
          <p:cNvPr id="20" name="Text 14"/>
          <p:cNvSpPr/>
          <p:nvPr/>
        </p:nvSpPr>
        <p:spPr>
          <a:xfrm>
            <a:off x="8973234" y="2613422"/>
            <a:ext cx="2314043"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팀·고객이 보는 Confluence 페이지 트리</a:t>
            </a:r>
            <a:endParaRPr lang="en-US" sz="1200" dirty="0"/>
          </a:p>
        </p:txBody>
      </p:sp>
      <p:sp>
        <p:nvSpPr>
          <p:cNvPr id="21" name="Text 15"/>
          <p:cNvSpPr/>
          <p:nvPr/>
        </p:nvSpPr>
        <p:spPr>
          <a:xfrm>
            <a:off x="812712" y="3376966"/>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Arial" pitchFamily="34" charset="0"/>
                <a:ea typeface="Arial" pitchFamily="34" charset="-122"/>
                <a:cs typeface="Arial" pitchFamily="34" charset="-120"/>
              </a:rPr>
              <a:t>사람이 한 일</a:t>
            </a:r>
            <a:endParaRPr lang="en-US" sz="1200" dirty="0"/>
          </a:p>
        </p:txBody>
      </p:sp>
      <p:sp>
        <p:nvSpPr>
          <p:cNvPr id="22" name="Shape 16"/>
          <p:cNvSpPr/>
          <p:nvPr/>
        </p:nvSpPr>
        <p:spPr>
          <a:xfrm>
            <a:off x="819062" y="3672703"/>
            <a:ext cx="5219766" cy="509411"/>
          </a:xfrm>
          <a:prstGeom prst="roundRect">
            <a:avLst>
              <a:gd name="adj" fmla="val 18698"/>
            </a:avLst>
          </a:prstGeom>
          <a:solidFill>
            <a:srgbClr val="FFF4E8"/>
          </a:solidFill>
          <a:ln w="12700">
            <a:solidFill>
              <a:srgbClr val="F2A65A"/>
            </a:solidFill>
            <a:prstDash val="solid"/>
          </a:ln>
        </p:spPr>
      </p:sp>
      <p:pic>
        <p:nvPicPr>
          <p:cNvPr id="23" name="Image 4" descr="Lightbulb">    </p:cNvPr>
          <p:cNvPicPr>
            <a:picLocks noChangeAspect="1"/>
          </p:cNvPicPr>
          <p:nvPr/>
        </p:nvPicPr>
        <p:blipFill>
          <a:blip r:embed="rId5"/>
          <a:srcRect l="0" r="0" t="0" b="0"/>
          <a:stretch/>
        </p:blipFill>
        <p:spPr>
          <a:xfrm>
            <a:off x="972123" y="3800407"/>
            <a:ext cx="254000" cy="254000"/>
          </a:xfrm>
          <a:prstGeom prst="rect">
            <a:avLst/>
          </a:prstGeom>
        </p:spPr>
      </p:pic>
      <p:sp>
        <p:nvSpPr>
          <p:cNvPr id="24" name="Text 17"/>
          <p:cNvSpPr/>
          <p:nvPr/>
        </p:nvSpPr>
        <p:spPr>
          <a:xfrm>
            <a:off x="1327657" y="3802943"/>
            <a:ext cx="3852730" cy="27432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02F"/>
                </a:solidFill>
                <a:latin typeface="Arial" pitchFamily="34" charset="0"/>
                <a:ea typeface="Arial" pitchFamily="34" charset="-122"/>
                <a:cs typeface="Arial" pitchFamily="34" charset="-120"/>
              </a:rPr>
              <a:t>판단 1번</a:t>
            </a:r>
            <a:r>
              <a:rPr lang="en-US" sz="1400" dirty="0">
                <a:solidFill>
                  <a:srgbClr val="12202F"/>
                </a:solidFill>
                <a:latin typeface="Arial" pitchFamily="34" charset="0"/>
                <a:ea typeface="Arial" pitchFamily="34" charset="-122"/>
                <a:cs typeface="Arial" pitchFamily="34" charset="-120"/>
              </a:rPr>
              <a:t>: 이 변경은 승인, 저 변경은 반려</a:t>
            </a:r>
            <a:endParaRPr lang="en-US" sz="1400" dirty="0"/>
          </a:p>
        </p:txBody>
      </p:sp>
      <p:sp>
        <p:nvSpPr>
          <p:cNvPr id="25" name="Shape 18"/>
          <p:cNvSpPr/>
          <p:nvPr/>
        </p:nvSpPr>
        <p:spPr>
          <a:xfrm>
            <a:off x="6153062" y="3672703"/>
            <a:ext cx="5219877" cy="509411"/>
          </a:xfrm>
          <a:prstGeom prst="roundRect">
            <a:avLst>
              <a:gd name="adj" fmla="val 18698"/>
            </a:avLst>
          </a:prstGeom>
          <a:solidFill>
            <a:srgbClr val="FFF4E8"/>
          </a:solidFill>
          <a:ln w="12700">
            <a:solidFill>
              <a:srgbClr val="F2A65A"/>
            </a:solidFill>
            <a:prstDash val="solid"/>
          </a:ln>
        </p:spPr>
      </p:sp>
      <p:pic>
        <p:nvPicPr>
          <p:cNvPr id="26" name="Image 5" descr="Check">    </p:cNvPr>
          <p:cNvPicPr>
            <a:picLocks noChangeAspect="1"/>
          </p:cNvPicPr>
          <p:nvPr/>
        </p:nvPicPr>
        <p:blipFill>
          <a:blip r:embed="rId6"/>
          <a:srcRect l="0" r="0" t="0" b="0"/>
          <a:stretch/>
        </p:blipFill>
        <p:spPr>
          <a:xfrm>
            <a:off x="6306124" y="3800407"/>
            <a:ext cx="254000" cy="254000"/>
          </a:xfrm>
          <a:prstGeom prst="rect">
            <a:avLst/>
          </a:prstGeom>
        </p:spPr>
      </p:pic>
      <p:sp>
        <p:nvSpPr>
          <p:cNvPr id="27" name="Text 19"/>
          <p:cNvSpPr/>
          <p:nvPr/>
        </p:nvSpPr>
        <p:spPr>
          <a:xfrm>
            <a:off x="6661658" y="3802943"/>
            <a:ext cx="4054078" cy="27432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02F"/>
                </a:solidFill>
                <a:latin typeface="Arial" pitchFamily="34" charset="0"/>
                <a:ea typeface="Arial" pitchFamily="34" charset="-122"/>
                <a:cs typeface="Arial" pitchFamily="34" charset="-120"/>
              </a:rPr>
              <a:t>승인 3번</a:t>
            </a:r>
            <a:r>
              <a:rPr lang="en-US" sz="1400" dirty="0">
                <a:solidFill>
                  <a:srgbClr val="12202F"/>
                </a:solidFill>
                <a:latin typeface="Arial" pitchFamily="34" charset="0"/>
                <a:ea typeface="Arial" pitchFamily="34" charset="-122"/>
                <a:cs typeface="Arial" pitchFamily="34" charset="-120"/>
              </a:rPr>
              <a:t>: 일감 등록 · 변경 제안 · 외부 공유</a:t>
            </a:r>
            <a:endParaRPr lang="en-US" sz="1400" dirty="0"/>
          </a:p>
        </p:txBody>
      </p:sp>
      <p:sp>
        <p:nvSpPr>
          <p:cNvPr id="28" name="Shape 20"/>
          <p:cNvSpPr/>
          <p:nvPr/>
        </p:nvSpPr>
        <p:spPr>
          <a:xfrm>
            <a:off x="812712" y="4366174"/>
            <a:ext cx="10566577" cy="731132"/>
          </a:xfrm>
          <a:prstGeom prst="roundRect">
            <a:avLst>
              <a:gd name="adj" fmla="val 13896"/>
            </a:avLst>
          </a:prstGeom>
          <a:solidFill>
            <a:srgbClr val="12202F"/>
          </a:solidFill>
          <a:ln/>
        </p:spPr>
      </p:sp>
      <p:sp>
        <p:nvSpPr>
          <p:cNvPr id="29" name="Text 21"/>
          <p:cNvSpPr/>
          <p:nvPr/>
        </p:nvSpPr>
        <p:spPr>
          <a:xfrm>
            <a:off x="1066712" y="4594600"/>
            <a:ext cx="6110023" cy="299685"/>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이 모든 일의 출발점은 </a:t>
            </a:r>
            <a:r>
              <a:rPr lang="en-US" sz="1600" b="1" dirty="0">
                <a:solidFill>
                  <a:srgbClr val="F2A65A"/>
                </a:solidFill>
                <a:latin typeface="Arial" pitchFamily="34" charset="0"/>
                <a:ea typeface="Arial" pitchFamily="34" charset="-122"/>
                <a:cs typeface="Arial" pitchFamily="34" charset="-120"/>
              </a:rPr>
              <a:t>코드가 아닌 한국어 업무 문서 4장</a:t>
            </a:r>
            <a:endParaRPr lang="en-US" sz="1600" dirty="0"/>
          </a:p>
        </p:txBody>
      </p:sp>
      <p:sp>
        <p:nvSpPr>
          <p:cNvPr id="30" name="Text 22"/>
          <p:cNvSpPr/>
          <p:nvPr/>
        </p:nvSpPr>
        <p:spPr>
          <a:xfrm>
            <a:off x="9638463" y="4518530"/>
            <a:ext cx="1486826" cy="4518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규칙 1장 + 절차 3장</a:t>
            </a:r>
            <a:endParaRPr lang="en-US" sz="1200" dirty="0"/>
          </a:p>
          <a:p>
            <a:pPr algn="r" indent="0" marL="0">
              <a:lnSpc>
                <a:spcPts val="1680"/>
              </a:lnSpc>
              <a:buNone/>
            </a:pPr>
            <a:r>
              <a:rPr lang="en-US" sz="1200" dirty="0">
                <a:solidFill>
                  <a:srgbClr val="C9D3DE"/>
                </a:solidFill>
                <a:latin typeface="Arial" pitchFamily="34" charset="0"/>
                <a:ea typeface="Arial" pitchFamily="34" charset="-122"/>
                <a:cs typeface="Arial" pitchFamily="34" charset="-120"/>
              </a:rPr>
              <a:t>연결 4개 (MCP · CLI)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8"/>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내 업무에 옮겨 보기</a:t>
            </a:r>
            <a:endParaRPr lang="en-US" sz="3000" dirty="0"/>
          </a:p>
        </p:txBody>
      </p:sp>
      <p:sp>
        <p:nvSpPr>
          <p:cNvPr id="4" name="Shape 2"/>
          <p:cNvSpPr/>
          <p:nvPr/>
        </p:nvSpPr>
        <p:spPr>
          <a:xfrm>
            <a:off x="812712" y="1514742"/>
            <a:ext cx="10566577" cy="1066491"/>
          </a:xfrm>
          <a:prstGeom prst="roundRect">
            <a:avLst>
              <a:gd name="adj" fmla="val 9527"/>
            </a:avLst>
          </a:prstGeom>
          <a:solidFill>
            <a:srgbClr val="12202F"/>
          </a:solidFill>
          <a:ln/>
        </p:spPr>
      </p:sp>
      <p:sp>
        <p:nvSpPr>
          <p:cNvPr id="5" name="Text 3"/>
          <p:cNvSpPr/>
          <p:nvPr/>
        </p:nvSpPr>
        <p:spPr>
          <a:xfrm>
            <a:off x="1066712" y="1717923"/>
            <a:ext cx="1036033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Arial" pitchFamily="34" charset="0"/>
                <a:ea typeface="Arial" pitchFamily="34" charset="-122"/>
                <a:cs typeface="Arial" pitchFamily="34" charset="-120"/>
              </a:rPr>
              <a:t>여러분께 질문</a:t>
            </a:r>
            <a:endParaRPr lang="en-US" sz="1200" dirty="0"/>
          </a:p>
        </p:txBody>
      </p:sp>
      <p:sp>
        <p:nvSpPr>
          <p:cNvPr id="6" name="Text 4"/>
          <p:cNvSpPr/>
          <p:nvPr/>
        </p:nvSpPr>
        <p:spPr>
          <a:xfrm>
            <a:off x="1066712" y="1981845"/>
            <a:ext cx="10360334" cy="421614"/>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F5F4EF"/>
                </a:solidFill>
                <a:latin typeface="Arial" pitchFamily="34" charset="0"/>
                <a:ea typeface="Arial" pitchFamily="34" charset="-122"/>
                <a:cs typeface="Arial" pitchFamily="34" charset="-120"/>
              </a:rPr>
              <a:t>매주 반복하는 일 하나, 무엇인가요?</a:t>
            </a:r>
            <a:endParaRPr lang="en-US" sz="2400" dirty="0"/>
          </a:p>
        </p:txBody>
      </p:sp>
      <p:sp>
        <p:nvSpPr>
          <p:cNvPr id="7" name="Text 5"/>
          <p:cNvSpPr/>
          <p:nvPr/>
        </p:nvSpPr>
        <p:spPr>
          <a:xfrm>
            <a:off x="812712" y="2758945"/>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Arial" pitchFamily="34" charset="0"/>
                <a:ea typeface="Arial" pitchFamily="34" charset="-122"/>
                <a:cs typeface="Arial" pitchFamily="34" charset="-120"/>
              </a:rPr>
              <a:t>이렇게 떠올려 보세요</a:t>
            </a:r>
            <a:endParaRPr lang="en-US" sz="1200" dirty="0"/>
          </a:p>
        </p:txBody>
      </p:sp>
      <p:sp>
        <p:nvSpPr>
          <p:cNvPr id="8" name="Shape 6"/>
          <p:cNvSpPr/>
          <p:nvPr/>
        </p:nvSpPr>
        <p:spPr>
          <a:xfrm>
            <a:off x="815887" y="3051510"/>
            <a:ext cx="3448116" cy="673188"/>
          </a:xfrm>
          <a:prstGeom prst="roundRect">
            <a:avLst>
              <a:gd name="adj" fmla="val 10848"/>
            </a:avLst>
          </a:prstGeom>
          <a:solidFill>
            <a:srgbClr val="FCFBF8"/>
          </a:solidFill>
          <a:ln w="6350">
            <a:solidFill>
              <a:srgbClr val="DCD8CC"/>
            </a:solidFill>
            <a:prstDash val="solid"/>
          </a:ln>
        </p:spPr>
      </p:sp>
      <p:pic>
        <p:nvPicPr>
          <p:cNvPr id="9" name="Image 0" descr="Link">    </p:cNvPr>
          <p:cNvPicPr>
            <a:picLocks noChangeAspect="1"/>
          </p:cNvPicPr>
          <p:nvPr/>
        </p:nvPicPr>
        <p:blipFill>
          <a:blip r:embed="rId1"/>
          <a:srcRect l="0" r="0" t="0" b="0"/>
          <a:stretch/>
        </p:blipFill>
        <p:spPr>
          <a:xfrm>
            <a:off x="972123" y="3261103"/>
            <a:ext cx="254000" cy="254000"/>
          </a:xfrm>
          <a:prstGeom prst="rect">
            <a:avLst/>
          </a:prstGeom>
        </p:spPr>
      </p:pic>
      <p:sp>
        <p:nvSpPr>
          <p:cNvPr id="10" name="Text 7"/>
          <p:cNvSpPr/>
          <p:nvPr/>
        </p:nvSpPr>
        <p:spPr>
          <a:xfrm>
            <a:off x="1327657" y="3156924"/>
            <a:ext cx="1974754" cy="48775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어디서 모으나</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메일, Teams, 문서, 데이터</a:t>
            </a:r>
            <a:endParaRPr lang="en-US" sz="1300" dirty="0"/>
          </a:p>
        </p:txBody>
      </p:sp>
      <p:sp>
        <p:nvSpPr>
          <p:cNvPr id="11" name="Shape 8"/>
          <p:cNvSpPr/>
          <p:nvPr/>
        </p:nvSpPr>
        <p:spPr>
          <a:xfrm>
            <a:off x="4371887" y="3051510"/>
            <a:ext cx="3448227" cy="673188"/>
          </a:xfrm>
          <a:prstGeom prst="roundRect">
            <a:avLst>
              <a:gd name="adj" fmla="val 10848"/>
            </a:avLst>
          </a:prstGeom>
          <a:solidFill>
            <a:srgbClr val="FCFBF8"/>
          </a:solidFill>
          <a:ln w="6350">
            <a:solidFill>
              <a:srgbClr val="DCD8CC"/>
            </a:solidFill>
            <a:prstDash val="solid"/>
          </a:ln>
        </p:spPr>
      </p:sp>
      <p:pic>
        <p:nvPicPr>
          <p:cNvPr id="12" name="Image 1" descr="Book">    </p:cNvPr>
          <p:cNvPicPr>
            <a:picLocks noChangeAspect="1"/>
          </p:cNvPicPr>
          <p:nvPr/>
        </p:nvPicPr>
        <p:blipFill>
          <a:blip r:embed="rId2"/>
          <a:srcRect l="0" r="0" t="0" b="0"/>
          <a:stretch/>
        </p:blipFill>
        <p:spPr>
          <a:xfrm>
            <a:off x="4528124" y="3261103"/>
            <a:ext cx="254000" cy="254000"/>
          </a:xfrm>
          <a:prstGeom prst="rect">
            <a:avLst/>
          </a:prstGeom>
        </p:spPr>
      </p:pic>
      <p:sp>
        <p:nvSpPr>
          <p:cNvPr id="13" name="Text 9"/>
          <p:cNvSpPr/>
          <p:nvPr/>
        </p:nvSpPr>
        <p:spPr>
          <a:xfrm>
            <a:off x="4883657" y="3156924"/>
            <a:ext cx="1889591" cy="48775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어떤 순서로 하나</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절차서 한 장에 적을 순서</a:t>
            </a:r>
            <a:endParaRPr lang="en-US" sz="1300" dirty="0"/>
          </a:p>
        </p:txBody>
      </p:sp>
      <p:sp>
        <p:nvSpPr>
          <p:cNvPr id="14" name="Shape 10"/>
          <p:cNvSpPr/>
          <p:nvPr/>
        </p:nvSpPr>
        <p:spPr>
          <a:xfrm>
            <a:off x="7927997" y="3051510"/>
            <a:ext cx="3448116" cy="673188"/>
          </a:xfrm>
          <a:prstGeom prst="roundRect">
            <a:avLst>
              <a:gd name="adj" fmla="val 10848"/>
            </a:avLst>
          </a:prstGeom>
          <a:solidFill>
            <a:srgbClr val="FFF4E8"/>
          </a:solidFill>
          <a:ln w="6350">
            <a:solidFill>
              <a:srgbClr val="F2A65A"/>
            </a:solidFill>
            <a:prstDash val="solid"/>
          </a:ln>
        </p:spPr>
      </p:sp>
      <p:pic>
        <p:nvPicPr>
          <p:cNvPr id="15" name="Image 2" descr="Check">    </p:cNvPr>
          <p:cNvPicPr>
            <a:picLocks noChangeAspect="1"/>
          </p:cNvPicPr>
          <p:nvPr/>
        </p:nvPicPr>
        <p:blipFill>
          <a:blip r:embed="rId3"/>
          <a:srcRect l="0" r="0" t="0" b="0"/>
          <a:stretch/>
        </p:blipFill>
        <p:spPr>
          <a:xfrm>
            <a:off x="8084234" y="3261103"/>
            <a:ext cx="254000" cy="254000"/>
          </a:xfrm>
          <a:prstGeom prst="rect">
            <a:avLst/>
          </a:prstGeom>
        </p:spPr>
      </p:pic>
      <p:sp>
        <p:nvSpPr>
          <p:cNvPr id="16" name="Text 11"/>
          <p:cNvSpPr/>
          <p:nvPr/>
        </p:nvSpPr>
        <p:spPr>
          <a:xfrm>
            <a:off x="8439768" y="3156924"/>
            <a:ext cx="1628488" cy="48775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어디서 내가 확인하나</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보내기 전, 게시 전</a:t>
            </a:r>
            <a:endParaRPr lang="en-US" sz="1300" dirty="0"/>
          </a:p>
        </p:txBody>
      </p:sp>
      <p:sp>
        <p:nvSpPr>
          <p:cNvPr id="17" name="Shape 12"/>
          <p:cNvSpPr/>
          <p:nvPr/>
        </p:nvSpPr>
        <p:spPr>
          <a:xfrm>
            <a:off x="819062" y="3911935"/>
            <a:ext cx="10553877" cy="2330185"/>
          </a:xfrm>
          <a:prstGeom prst="roundRect">
            <a:avLst>
              <a:gd name="adj" fmla="val 4088"/>
            </a:avLst>
          </a:prstGeom>
          <a:noFill/>
          <a:ln w="12700">
            <a:solidFill>
              <a:srgbClr val="9AA5B1"/>
            </a:solidFill>
            <a:prstDash val="dash"/>
          </a:ln>
        </p:spPr>
      </p:sp>
      <p:sp>
        <p:nvSpPr>
          <p:cNvPr id="18" name="Text 13"/>
          <p:cNvSpPr/>
          <p:nvPr/>
        </p:nvSpPr>
        <p:spPr>
          <a:xfrm>
            <a:off x="972123" y="4064992"/>
            <a:ext cx="3348192" cy="2024062"/>
          </a:xfrm>
          <a:prstGeom prst="roundRect">
            <a:avLst>
              <a:gd name="adj" fmla="val 3765"/>
            </a:avLst>
          </a:prstGeom>
          <a:solidFill>
            <a:srgbClr val="FCFBF8"/>
          </a:solidFill>
          <a:ln/>
        </p:spPr>
        <p:txBody>
          <a:bodyPr wrap="square" lIns="79282" tIns="79282" rIns="79282" bIns="79282" rtlCol="0" anchor="ctr">
            <a:normAutofit/>
          </a:bodyPr>
          <a:lstStyle/>
          <a:p>
            <a:pPr algn="ctr" indent="0" marL="0">
              <a:lnSpc>
                <a:spcPts val="1960"/>
              </a:lnSpc>
              <a:buNone/>
            </a:pPr>
            <a:r>
              <a:rPr lang="en-US" sz="1400" b="1" dirty="0">
                <a:solidFill>
                  <a:srgbClr val="9AA5B1"/>
                </a:solidFill>
                <a:latin typeface="Arial" pitchFamily="34" charset="0"/>
                <a:ea typeface="Arial" pitchFamily="34" charset="-122"/>
                <a:cs typeface="Arial" pitchFamily="34" charset="-120"/>
              </a:rPr>
              <a:t>여러분의 답 1</a:t>
            </a:r>
            <a:endParaRPr lang="en-US" sz="1400" dirty="0"/>
          </a:p>
        </p:txBody>
      </p:sp>
      <p:sp>
        <p:nvSpPr>
          <p:cNvPr id="19" name="Text 14"/>
          <p:cNvSpPr/>
          <p:nvPr/>
        </p:nvSpPr>
        <p:spPr>
          <a:xfrm>
            <a:off x="4421849" y="4064992"/>
            <a:ext cx="3348302" cy="2024062"/>
          </a:xfrm>
          <a:prstGeom prst="roundRect">
            <a:avLst>
              <a:gd name="adj" fmla="val 3765"/>
            </a:avLst>
          </a:prstGeom>
          <a:solidFill>
            <a:srgbClr val="FCFBF8"/>
          </a:solidFill>
          <a:ln/>
        </p:spPr>
        <p:txBody>
          <a:bodyPr wrap="square" lIns="79282" tIns="79282" rIns="79282" bIns="79282" rtlCol="0" anchor="ctr">
            <a:normAutofit/>
          </a:bodyPr>
          <a:lstStyle/>
          <a:p>
            <a:pPr algn="ctr" indent="0" marL="0">
              <a:lnSpc>
                <a:spcPts val="1960"/>
              </a:lnSpc>
              <a:buNone/>
            </a:pPr>
            <a:r>
              <a:rPr lang="en-US" sz="1400" b="1" dirty="0">
                <a:solidFill>
                  <a:srgbClr val="9AA5B1"/>
                </a:solidFill>
                <a:latin typeface="Arial" pitchFamily="34" charset="0"/>
                <a:ea typeface="Arial" pitchFamily="34" charset="-122"/>
                <a:cs typeface="Arial" pitchFamily="34" charset="-120"/>
              </a:rPr>
              <a:t>여러분의 답 2</a:t>
            </a:r>
            <a:endParaRPr lang="en-US" sz="1400" dirty="0"/>
          </a:p>
        </p:txBody>
      </p:sp>
      <p:sp>
        <p:nvSpPr>
          <p:cNvPr id="20" name="Text 15"/>
          <p:cNvSpPr/>
          <p:nvPr/>
        </p:nvSpPr>
        <p:spPr>
          <a:xfrm>
            <a:off x="7871685" y="4064992"/>
            <a:ext cx="3348192" cy="2024062"/>
          </a:xfrm>
          <a:prstGeom prst="roundRect">
            <a:avLst>
              <a:gd name="adj" fmla="val 3765"/>
            </a:avLst>
          </a:prstGeom>
          <a:solidFill>
            <a:srgbClr val="FCFBF8"/>
          </a:solidFill>
          <a:ln/>
        </p:spPr>
        <p:txBody>
          <a:bodyPr wrap="square" lIns="79282" tIns="79282" rIns="79282" bIns="79282" rtlCol="0" anchor="ctr">
            <a:normAutofit/>
          </a:bodyPr>
          <a:lstStyle/>
          <a:p>
            <a:pPr algn="ctr" indent="0" marL="0">
              <a:lnSpc>
                <a:spcPts val="1960"/>
              </a:lnSpc>
              <a:buNone/>
            </a:pPr>
            <a:r>
              <a:rPr lang="en-US" sz="1400" b="1" dirty="0">
                <a:solidFill>
                  <a:srgbClr val="9AA5B1"/>
                </a:solidFill>
                <a:latin typeface="Arial" pitchFamily="34" charset="0"/>
                <a:ea typeface="Arial" pitchFamily="34" charset="-122"/>
                <a:cs typeface="Arial" pitchFamily="34" charset="-120"/>
              </a:rPr>
              <a:t>여러분의 답 3</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12" y="609538"/>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p:nvPr>
            <p:ph type="title"/>
          </p:nvPr>
        </p:nvSpPr>
        <p:spPr>
          <a:xfrm>
            <a:off x="812712" y="898922"/>
            <a:ext cx="10883574" cy="463506"/>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2202F"/>
                </a:solidFill>
                <a:latin typeface="Arial" pitchFamily="34" charset="0"/>
                <a:ea typeface="Arial" pitchFamily="34" charset="-122"/>
                <a:cs typeface="Arial" pitchFamily="34" charset="-120"/>
              </a:rPr>
              <a:t>여러분의 답과 비교해 보면</a:t>
            </a:r>
            <a:endParaRPr lang="en-US" sz="3000" dirty="0"/>
          </a:p>
        </p:txBody>
      </p:sp>
      <p:sp>
        <p:nvSpPr>
          <p:cNvPr id="4" name="Shape 2"/>
          <p:cNvSpPr/>
          <p:nvPr/>
        </p:nvSpPr>
        <p:spPr>
          <a:xfrm>
            <a:off x="812712" y="1489385"/>
            <a:ext cx="10566577" cy="408892"/>
          </a:xfrm>
          <a:prstGeom prst="roundRect">
            <a:avLst>
              <a:gd name="adj" fmla="val 18636"/>
            </a:avLst>
          </a:prstGeom>
          <a:solidFill>
            <a:srgbClr val="E3ECFB"/>
          </a:solidFill>
          <a:ln/>
        </p:spPr>
      </p:sp>
      <p:pic>
        <p:nvPicPr>
          <p:cNvPr id="5" name="Image 0" descr="Lightning">    </p:cNvPr>
          <p:cNvPicPr>
            <a:picLocks noChangeAspect="1"/>
          </p:cNvPicPr>
          <p:nvPr/>
        </p:nvPicPr>
        <p:blipFill>
          <a:blip r:embed="rId1"/>
          <a:srcRect l="0" r="0" t="0" b="0"/>
          <a:stretch/>
        </p:blipFill>
        <p:spPr>
          <a:xfrm>
            <a:off x="965068" y="1579563"/>
            <a:ext cx="228534" cy="228534"/>
          </a:xfrm>
          <a:prstGeom prst="rect">
            <a:avLst/>
          </a:prstGeom>
        </p:spPr>
      </p:pic>
      <p:sp>
        <p:nvSpPr>
          <p:cNvPr id="6" name="Text 3"/>
          <p:cNvSpPr/>
          <p:nvPr/>
        </p:nvSpPr>
        <p:spPr>
          <a:xfrm>
            <a:off x="1295135" y="1578242"/>
            <a:ext cx="7884848" cy="256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Arial" pitchFamily="34" charset="0"/>
                <a:ea typeface="Arial" pitchFamily="34" charset="-122"/>
                <a:cs typeface="Arial" pitchFamily="34" charset="-120"/>
              </a:rPr>
              <a:t>Power Automate</a:t>
            </a:r>
            <a:r>
              <a:rPr lang="en-US" sz="1300" dirty="0">
                <a:solidFill>
                  <a:srgbClr val="12202F"/>
                </a:solidFill>
                <a:latin typeface="Arial" pitchFamily="34" charset="0"/>
                <a:ea typeface="Arial" pitchFamily="34" charset="-122"/>
                <a:cs typeface="Arial" pitchFamily="34" charset="-120"/>
              </a:rPr>
              <a:t>가 정해진 흐름을 자동화한다면, </a:t>
            </a:r>
            <a:r>
              <a:rPr lang="en-US" sz="1300" b="1" dirty="0">
                <a:solidFill>
                  <a:srgbClr val="12202F"/>
                </a:solidFill>
                <a:latin typeface="Arial" pitchFamily="34" charset="0"/>
                <a:ea typeface="Arial" pitchFamily="34" charset="-122"/>
                <a:cs typeface="Arial" pitchFamily="34" charset="-120"/>
              </a:rPr>
              <a:t>Copilot</a:t>
            </a:r>
            <a:r>
              <a:rPr lang="en-US" sz="1300" dirty="0">
                <a:solidFill>
                  <a:srgbClr val="12202F"/>
                </a:solidFill>
                <a:latin typeface="Arial" pitchFamily="34" charset="0"/>
                <a:ea typeface="Arial" pitchFamily="34" charset="-122"/>
                <a:cs typeface="Arial" pitchFamily="34" charset="-120"/>
              </a:rPr>
              <a:t>은 판단이 필요한 흐름을 맡는다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9767" y="2057690"/>
          <a:ext cx="10559521" cy="2122620"/>
        </p:xfrm>
        <a:graphic>
          <a:graphicData uri="http://schemas.openxmlformats.org/drawingml/2006/table">
            <a:tbl>
              <a:tblPr/>
              <a:tblGrid>
                <a:gridCol w="2323095"/>
                <a:gridCol w="2851071"/>
                <a:gridCol w="3273452"/>
                <a:gridCol w="2111904"/>
              </a:tblGrid>
              <a:tr h="353770">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이런 반복 업무라면</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어디서 모으나</a:t>
                      </a:r>
                      <a:endParaRPr lang="en-US" sz="1300" dirty="0">
                        <a:latin typeface="Arial" charset="0"/>
                        <a:ea typeface="Arial" charset="0"/>
                        <a:cs typeface="Arial" charset="0"/>
                      </a:endParaRPr>
                    </a:p>
                  </a:txBody>
                  <a:tcPr marL="57785" marR="57785" marT="57785" marB="57785"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어떤 순서로 하나</a:t>
                      </a:r>
                      <a:endParaRPr lang="en-US" sz="1300" dirty="0">
                        <a:latin typeface="Arial" charset="0"/>
                        <a:ea typeface="Arial" charset="0"/>
                        <a:cs typeface="Arial" charset="0"/>
                      </a:endParaRPr>
                    </a:p>
                  </a:txBody>
                  <a:tcPr marL="57785" marR="57785" marT="57785" marB="57785"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어디서 확인하나</a:t>
                      </a:r>
                      <a:endParaRPr lang="en-US" sz="1300" dirty="0">
                        <a:latin typeface="Arial" charset="0"/>
                        <a:ea typeface="Arial" charset="0"/>
                        <a:cs typeface="Arial" charset="0"/>
                      </a:endParaRPr>
                    </a:p>
                  </a:txBody>
                  <a:tcPr marL="57785" marR="57785" marT="57785" marB="57785"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r>
              <a:tr h="353770">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주간 업무 보고</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메일, Teams, 작업 목록</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한 주 내용 모으기 → 보고 양식</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보내기 전</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3770">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회의록·후속 조치</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회의 기록, Teams</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결정 사항·담당자 → 작업 등록</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작업 배정 전</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3770">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고객 문의 답변</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메일, SharePoint 문서</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문의 분류 → 답변 초안</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발송 전</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3770">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데이터 점검 리포트</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Excel, Dataverse, Power BI</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이상값 찾기 → 원인 설명 붙이기</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공유 전</a:t>
                      </a:r>
                      <a:endParaRPr lang="en-US" sz="1300" dirty="0">
                        <a:latin typeface="Arial" charset="0"/>
                        <a:ea typeface="Arial" charset="0"/>
                        <a:cs typeface="Arial"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3770">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매뉴얼·인수인계</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SharePoint, OneDrive</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흩어진 문서 모으기 → 목차 정리</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F2A37"/>
                          </a:solidFill>
                          <a:latin typeface="Arial" pitchFamily="34" charset="0"/>
                          <a:ea typeface="Arial" pitchFamily="34" charset="-122"/>
                          <a:cs typeface="Arial" pitchFamily="34" charset="-120"/>
                        </a:rPr>
                        <a:t>게시 전</a:t>
                      </a:r>
                      <a:endParaRPr lang="en-US" sz="1300" dirty="0">
                        <a:latin typeface="Arial" charset="0"/>
                        <a:ea typeface="Arial" charset="0"/>
                        <a:cs typeface="Arial"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8" name="Text 4"/>
          <p:cNvSpPr/>
          <p:nvPr/>
        </p:nvSpPr>
        <p:spPr>
          <a:xfrm>
            <a:off x="812712" y="4332666"/>
            <a:ext cx="10566577" cy="578997"/>
          </a:xfrm>
          <a:prstGeom prst="roundRect">
            <a:avLst>
              <a:gd name="adj" fmla="val 17548"/>
            </a:avLst>
          </a:prstGeom>
          <a:solidFill>
            <a:srgbClr val="12202F"/>
          </a:solidFill>
          <a:ln/>
        </p:spPr>
        <p:txBody>
          <a:bodyPr wrap="square" lIns="224242" tIns="109898" rIns="224242" bIns="109898" rtlCol="0" anchor="ctr">
            <a:normAutofit/>
          </a:bodyPr>
          <a:lstStyle/>
          <a:p>
            <a:pPr algn="l" indent="0" marL="0">
              <a:lnSpc>
                <a:spcPts val="2160"/>
              </a:lnSpc>
              <a:buNone/>
            </a:pPr>
            <a:r>
              <a:rPr lang="en-US" sz="1600" b="1" dirty="0">
                <a:solidFill>
                  <a:srgbClr val="F5F4EF"/>
                </a:solidFill>
                <a:latin typeface="Arial" pitchFamily="34" charset="0"/>
                <a:ea typeface="Arial" pitchFamily="34" charset="-122"/>
                <a:cs typeface="Arial" pitchFamily="34" charset="-120"/>
              </a:rPr>
              <a:t>내일 할 일: </a:t>
            </a:r>
            <a:r>
              <a:rPr lang="en-US" sz="1600" b="1" dirty="0">
                <a:solidFill>
                  <a:srgbClr val="F2A65A"/>
                </a:solidFill>
                <a:latin typeface="Arial" pitchFamily="34" charset="0"/>
                <a:ea typeface="Arial" pitchFamily="34" charset="-122"/>
                <a:cs typeface="Arial" pitchFamily="34" charset="-120"/>
              </a:rPr>
              <a:t>하나 고르고, 절차 한 장 쓰고, 조회 전용 연결부터</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pic>
        <p:nvPicPr>
          <p:cNvPr id="2" name="Image 0" descr="Star">    </p:cNvPr>
          <p:cNvPicPr>
            <a:picLocks noChangeAspect="1"/>
          </p:cNvPicPr>
          <p:nvPr/>
        </p:nvPicPr>
        <p:blipFill>
          <a:blip r:embed="rId1"/>
          <a:srcRect l="0" r="0" t="0" b="0"/>
          <a:stretch/>
        </p:blipFill>
        <p:spPr>
          <a:xfrm>
            <a:off x="1270000" y="889000"/>
            <a:ext cx="304712" cy="304712"/>
          </a:xfrm>
          <a:prstGeom prst="rect">
            <a:avLst/>
          </a:prstGeom>
        </p:spPr>
      </p:pic>
      <p:pic>
        <p:nvPicPr>
          <p:cNvPr id="3" name="Image 1" descr="Star">    </p:cNvPr>
          <p:cNvPicPr>
            <a:picLocks noChangeAspect="1"/>
          </p:cNvPicPr>
          <p:nvPr/>
        </p:nvPicPr>
        <p:blipFill>
          <a:blip r:embed="rId2"/>
          <a:srcRect l="0" r="0" t="0" b="0"/>
          <a:stretch/>
        </p:blipFill>
        <p:spPr>
          <a:xfrm>
            <a:off x="10414001" y="1079500"/>
            <a:ext cx="228534" cy="228534"/>
          </a:xfrm>
          <a:prstGeom prst="rect">
            <a:avLst/>
          </a:prstGeom>
        </p:spPr>
      </p:pic>
      <p:pic>
        <p:nvPicPr>
          <p:cNvPr id="4" name="Image 2" descr="Star">    </p:cNvPr>
          <p:cNvPicPr>
            <a:picLocks noChangeAspect="1"/>
          </p:cNvPicPr>
          <p:nvPr/>
        </p:nvPicPr>
        <p:blipFill>
          <a:blip r:embed="rId3"/>
          <a:srcRect l="0" r="0" t="0" b="0"/>
          <a:stretch/>
        </p:blipFill>
        <p:spPr>
          <a:xfrm>
            <a:off x="9906001" y="4953000"/>
            <a:ext cx="355534" cy="355534"/>
          </a:xfrm>
          <a:prstGeom prst="rect">
            <a:avLst/>
          </a:prstGeom>
        </p:spPr>
      </p:pic>
      <p:sp>
        <p:nvSpPr>
          <p:cNvPr id="5" name="Shape 0"/>
          <p:cNvSpPr/>
          <p:nvPr/>
        </p:nvSpPr>
        <p:spPr>
          <a:xfrm>
            <a:off x="1866481" y="1809700"/>
            <a:ext cx="3035300" cy="3035300"/>
          </a:xfrm>
          <a:prstGeom prst="roundRect">
            <a:avLst>
              <a:gd name="adj" fmla="val 50000"/>
            </a:avLst>
          </a:prstGeom>
          <a:solidFill>
            <a:srgbClr val="FCFBF8"/>
          </a:solidFill>
          <a:ln w="12700">
            <a:solidFill>
              <a:srgbClr val="DCD8CC"/>
            </a:solidFill>
            <a:prstDash val="solid"/>
          </a:ln>
          <a:effectLst>
            <a:outerShdw sx="100000" sy="100000" kx="0" ky="0" algn="bl" rotWithShape="0" blurRad="254000" dist="101600" dir="5400000">
              <a:srgbClr val="12202F">
                <a:alpha val="12000"/>
              </a:srgbClr>
            </a:outerShdw>
          </a:effectLst>
        </p:spPr>
      </p:sp>
      <p:pic>
        <p:nvPicPr>
          <p:cNvPr id="6" name="Image 3" descr="GitHub Copilot 마스코트">    </p:cNvPr>
          <p:cNvPicPr>
            <a:picLocks noChangeAspect="1"/>
          </p:cNvPicPr>
          <p:nvPr/>
        </p:nvPicPr>
        <p:blipFill>
          <a:blip r:embed="rId4"/>
          <a:srcRect l="0" r="0" t="-42" b="-42"/>
          <a:stretch/>
        </p:blipFill>
        <p:spPr>
          <a:xfrm>
            <a:off x="2304631" y="2247850"/>
            <a:ext cx="2159000" cy="2159000"/>
          </a:xfrm>
          <a:prstGeom prst="rect">
            <a:avLst/>
          </a:prstGeom>
        </p:spPr>
      </p:pic>
      <p:pic>
        <p:nvPicPr>
          <p:cNvPr id="7" name="Image 4" descr="arrow-left">    </p:cNvPr>
          <p:cNvPicPr>
            <a:picLocks noChangeAspect="1"/>
          </p:cNvPicPr>
          <p:nvPr/>
        </p:nvPicPr>
        <p:blipFill>
          <a:blip r:embed="rId5"/>
          <a:srcRect l="-12" r="-12" t="0" b="0"/>
          <a:stretch/>
        </p:blipFill>
        <p:spPr>
          <a:xfrm>
            <a:off x="5162131" y="3175000"/>
            <a:ext cx="457178" cy="304712"/>
          </a:xfrm>
          <a:prstGeom prst="rect">
            <a:avLst/>
          </a:prstGeom>
        </p:spPr>
      </p:pic>
      <p:sp>
        <p:nvSpPr>
          <p:cNvPr id="8" name="Shape 1"/>
          <p:cNvSpPr/>
          <p:nvPr/>
        </p:nvSpPr>
        <p:spPr>
          <a:xfrm>
            <a:off x="5879659" y="2070100"/>
            <a:ext cx="4445860" cy="1972226"/>
          </a:xfrm>
          <a:prstGeom prst="roundRect">
            <a:avLst>
              <a:gd name="adj" fmla="val 12557"/>
            </a:avLst>
          </a:prstGeom>
          <a:solidFill>
            <a:srgbClr val="FCFBF8"/>
          </a:solidFill>
          <a:ln w="12700">
            <a:solidFill>
              <a:srgbClr val="DCD8CC"/>
            </a:solidFill>
            <a:prstDash val="solid"/>
          </a:ln>
          <a:effectLst>
            <a:outerShdw sx="100000" sy="100000" kx="0" ky="0" algn="bl" rotWithShape="0" blurRad="254000" dist="101600" dir="5400000">
              <a:srgbClr val="12202F">
                <a:alpha val="12000"/>
              </a:srgbClr>
            </a:outerShdw>
          </a:effectLst>
        </p:spPr>
      </p:sp>
      <p:sp>
        <p:nvSpPr>
          <p:cNvPr id="9" name="Text 2"/>
          <p:cNvSpPr/>
          <p:nvPr/>
        </p:nvSpPr>
        <p:spPr>
          <a:xfrm>
            <a:off x="6210543" y="2350157"/>
            <a:ext cx="3897616"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C9"/>
                </a:solidFill>
                <a:latin typeface="Arial" pitchFamily="34" charset="0"/>
                <a:ea typeface="Arial" pitchFamily="34" charset="-122"/>
                <a:cs typeface="Arial" pitchFamily="34" charset="-120"/>
              </a:rPr>
              <a:t>Q&amp;A</a:t>
            </a:r>
            <a:endParaRPr lang="en-US" sz="1600" dirty="0"/>
          </a:p>
        </p:txBody>
      </p:sp>
      <p:sp>
        <p:nvSpPr>
          <p:cNvPr id="10" name="Text 3"/>
          <p:cNvSpPr/>
          <p:nvPr>
            <p:ph type="title"/>
          </p:nvPr>
        </p:nvSpPr>
        <p:spPr>
          <a:xfrm>
            <a:off x="6210543" y="2710762"/>
            <a:ext cx="3897616" cy="1076898"/>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2202F"/>
                </a:solidFill>
                <a:latin typeface="Arial" pitchFamily="34" charset="0"/>
                <a:ea typeface="Arial" pitchFamily="34" charset="-122"/>
                <a:cs typeface="Arial" pitchFamily="34" charset="-120"/>
              </a:rPr>
              <a:t>궁금한 점,</a:t>
            </a:r>
            <a:endParaRPr lang="en-US" sz="3600" dirty="0"/>
          </a:p>
          <a:p>
            <a:pPr algn="l" indent="0" marL="0">
              <a:lnSpc>
                <a:spcPts val="4140"/>
              </a:lnSpc>
              <a:buNone/>
            </a:pPr>
            <a:r>
              <a:rPr lang="en-US" sz="3600" b="1" i="0" dirty="0">
                <a:solidFill>
                  <a:srgbClr val="12202F"/>
                </a:solidFill>
                <a:latin typeface="Arial" pitchFamily="34" charset="0"/>
                <a:ea typeface="Arial" pitchFamily="34" charset="-122"/>
                <a:cs typeface="Arial" pitchFamily="34" charset="-120"/>
              </a:rPr>
              <a:t>편하게 물어보세요</a:t>
            </a:r>
            <a:endParaRPr lang="en-US" sz="3600" dirty="0"/>
          </a:p>
        </p:txBody>
      </p:sp>
      <p:sp>
        <p:nvSpPr>
          <p:cNvPr id="11" name="Text 4"/>
          <p:cNvSpPr/>
          <p:nvPr/>
        </p:nvSpPr>
        <p:spPr>
          <a:xfrm>
            <a:off x="5879659" y="4232734"/>
            <a:ext cx="1076612"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비용·보안</a:t>
            </a:r>
            <a:endParaRPr lang="en-US" sz="1400" dirty="0"/>
          </a:p>
        </p:txBody>
      </p:sp>
      <p:sp>
        <p:nvSpPr>
          <p:cNvPr id="12" name="Text 5"/>
          <p:cNvSpPr/>
          <p:nvPr/>
        </p:nvSpPr>
        <p:spPr>
          <a:xfrm>
            <a:off x="7070505" y="4232734"/>
            <a:ext cx="1471723"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내 업무에 적용</a:t>
            </a:r>
            <a:endParaRPr lang="en-US" sz="1400" dirty="0"/>
          </a:p>
        </p:txBody>
      </p:sp>
      <p:sp>
        <p:nvSpPr>
          <p:cNvPr id="13" name="Text 6"/>
          <p:cNvSpPr/>
          <p:nvPr/>
        </p:nvSpPr>
        <p:spPr>
          <a:xfrm>
            <a:off x="8656462" y="4232734"/>
            <a:ext cx="1076612" cy="351764"/>
          </a:xfrm>
          <a:prstGeom prst="roundRect">
            <a:avLst>
              <a:gd name="adj" fmla="val 50000"/>
            </a:avLst>
          </a:prstGeom>
          <a:noFill/>
          <a:ln w="12700">
            <a:solidFill>
              <a:srgbClr val="2563C9"/>
            </a:solidFill>
            <a:prstDash val="solid"/>
          </a:ln>
        </p:spPr>
        <p:txBody>
          <a:bodyPr wrap="none" lIns="0" tIns="0" rIns="0" bIns="0" rtlCol="0" anchor="ctr">
            <a:normAutofit/>
          </a:bodyPr>
          <a:lstStyle/>
          <a:p>
            <a:pPr algn="ctr" indent="0" marL="0">
              <a:lnSpc>
                <a:spcPts val="1960"/>
              </a:lnSpc>
              <a:buNone/>
            </a:pPr>
            <a:r>
              <a:rPr lang="en-US" sz="1400" b="1" dirty="0">
                <a:solidFill>
                  <a:srgbClr val="2563C9"/>
                </a:solidFill>
                <a:latin typeface="Arial" pitchFamily="34" charset="0"/>
                <a:ea typeface="Arial" pitchFamily="34" charset="-122"/>
                <a:cs typeface="Arial" pitchFamily="34" charset="-120"/>
              </a:rPr>
              <a:t>준비·설정</a:t>
            </a:r>
            <a:endParaRPr lang="en-US" sz="1400" dirty="0"/>
          </a:p>
        </p:txBody>
      </p:sp>
      <p:sp>
        <p:nvSpPr>
          <p:cNvPr id="14" name="Text 7"/>
          <p:cNvSpPr/>
          <p:nvPr/>
        </p:nvSpPr>
        <p:spPr>
          <a:xfrm>
            <a:off x="812712" y="6238429"/>
            <a:ext cx="10883347"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김영대 · 티디지 TS팀 · Microsoft MVP (Azure, Security) · 데모 키트: [공유 링크]</a:t>
            </a:r>
            <a:endParaRPr lang="en-US" sz="1200" dirty="0"/>
          </a:p>
        </p:txBody>
      </p:sp>
    </p:spTree>
  </p:cSld>
  <p:clrMapOvr>
    <a:masterClrMapping/>
  </p:clrMapOvr>
</p:sld>
</file>

<file path=ppt/theme/theme1.xml><?xml version="1.0" encoding="utf-8"?>
<a:theme xmlns:a="http://schemas.openxmlformats.org/drawingml/2006/main" name="오프닝 장표 시안 - Dev Days">
  <a:themeElements>
    <a:clrScheme name="오프닝 장표 시안 - Dev Days">
      <a:dk1>
        <a:srgbClr val="12202F"/>
      </a:dk1>
      <a:lt1>
        <a:srgbClr val="F5F4EF"/>
      </a:lt1>
      <a:dk2>
        <a:srgbClr val="4B555F"/>
      </a:dk2>
      <a:lt2>
        <a:srgbClr val="DEDFDC"/>
      </a:lt2>
      <a:accent1>
        <a:srgbClr val="2563C9"/>
      </a:accent1>
      <a:accent2>
        <a:srgbClr val="C2410C"/>
      </a:accent2>
      <a:accent3>
        <a:srgbClr val="F2A65A"/>
      </a:accent3>
      <a:accent4>
        <a:srgbClr val="1D4FA3"/>
      </a:accent4>
      <a:accent5>
        <a:srgbClr val="5B3FB0"/>
      </a:accent5>
      <a:accent6>
        <a:srgbClr val="4A5568"/>
      </a:accent6>
      <a:hlink>
        <a:srgbClr val="0563C1"/>
      </a:hlink>
      <a:folHlink>
        <a:srgbClr val="954F72"/>
      </a:folHlink>
    </a:clrScheme>
    <a:fontScheme name="오프닝 장표 시안 - Dev Day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오프닝 장표 시안 - Dev Days</dc:title>
  <dc:subject/>
  <dc:creator/>
  <cp:lastModifiedBy/>
  <cp:revision>1</cp:revision>
  <dcterms:created xsi:type="dcterms:W3CDTF">2026-10-17T22:10:53Z</dcterms:created>
  <dcterms:modified xsi:type="dcterms:W3CDTF">2026-10-17T22:10:53Z</dcterms:modified>
</cp:coreProperties>
</file>